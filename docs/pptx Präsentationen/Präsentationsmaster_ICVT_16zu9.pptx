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60" r:id="rId4"/>
    <p:sldMasterId id="2147483708" r:id="rId5"/>
    <p:sldMasterId id="2147483723" r:id="rId6"/>
  </p:sldMasterIdLst>
  <p:notesMasterIdLst>
    <p:notesMasterId r:id="rId22"/>
  </p:notesMasterIdLst>
  <p:handoutMasterIdLst>
    <p:handoutMasterId r:id="rId23"/>
  </p:handoutMasterIdLst>
  <p:sldIdLst>
    <p:sldId id="321" r:id="rId7"/>
    <p:sldId id="335" r:id="rId8"/>
    <p:sldId id="339" r:id="rId9"/>
    <p:sldId id="333" r:id="rId10"/>
    <p:sldId id="336" r:id="rId11"/>
    <p:sldId id="334" r:id="rId12"/>
    <p:sldId id="332" r:id="rId13"/>
    <p:sldId id="331" r:id="rId14"/>
    <p:sldId id="337" r:id="rId15"/>
    <p:sldId id="340" r:id="rId16"/>
    <p:sldId id="323" r:id="rId17"/>
    <p:sldId id="324" r:id="rId18"/>
    <p:sldId id="325" r:id="rId19"/>
    <p:sldId id="329" r:id="rId20"/>
    <p:sldId id="330" r:id="rId21"/>
  </p:sldIdLst>
  <p:sldSz cx="12192000" cy="6858000"/>
  <p:notesSz cx="6858000" cy="9144000"/>
  <p:defaultTextStyle>
    <a:defPPr>
      <a:defRPr lang="en-US"/>
    </a:defPPr>
    <a:lvl1pPr marL="0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7939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5878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83818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11757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39696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67635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95574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23514" algn="l" defTabSz="855878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287" userDrawn="1">
          <p15:clr>
            <a:srgbClr val="A4A3A4"/>
          </p15:clr>
        </p15:guide>
        <p15:guide id="5" orient="horz" pos="799" userDrawn="1">
          <p15:clr>
            <a:srgbClr val="A4A3A4"/>
          </p15:clr>
        </p15:guide>
        <p15:guide id="6" orient="horz" pos="3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C000"/>
    <a:srgbClr val="5B9BD5"/>
    <a:srgbClr val="4AD3FF"/>
    <a:srgbClr val="BFBFBF"/>
    <a:srgbClr val="7F6000"/>
    <a:srgbClr val="71AD47"/>
    <a:srgbClr val="ED7D31"/>
    <a:srgbClr val="2FAEA0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0" autoAdjust="0"/>
    <p:restoredTop sz="94160" autoAdjust="0"/>
  </p:normalViewPr>
  <p:slideViewPr>
    <p:cSldViewPr snapToGrid="0">
      <p:cViewPr>
        <p:scale>
          <a:sx n="195" d="100"/>
          <a:sy n="195" d="100"/>
        </p:scale>
        <p:origin x="144" y="-816"/>
      </p:cViewPr>
      <p:guideLst>
        <p:guide orient="horz" pos="2387"/>
        <p:guide pos="3840"/>
        <p:guide pos="393"/>
        <p:guide pos="7287"/>
        <p:guide orient="horz" pos="799"/>
        <p:guide orient="horz" pos="3952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87233728-C297-40D9-B8EA-516437FDDBB3}" type="datetime1">
              <a:rPr lang="de-DE" sz="800" smtClean="0"/>
              <a:t>30.04.26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/>
              <a:t>Universität Stuttgart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000" y="244800"/>
            <a:ext cx="5904000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 dirty="0" err="1"/>
              <a:t>Titel</a:t>
            </a:r>
            <a:r>
              <a:rPr lang="en-US" dirty="0"/>
              <a:t> der </a:t>
            </a:r>
            <a:r>
              <a:rPr lang="en-US" dirty="0" err="1"/>
              <a:t>Präsentation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4828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17488" y="1009650"/>
            <a:ext cx="5486401" cy="308610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68313" y="4400550"/>
            <a:ext cx="5903912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468000" y="8776800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 dirty="0" err="1"/>
              <a:t>Universität</a:t>
            </a:r>
            <a:r>
              <a:rPr lang="en-US" dirty="0"/>
              <a:t> Stuttgart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271200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05DD1DF0-DD4E-4B0C-B0FD-D16D9D2A97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217170" indent="-217170" algn="l" defTabSz="855878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30530" indent="-213360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45796" indent="-215266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862966" indent="-217170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076326" indent="-213360" algn="l" defTabSz="855878" rtl="0" eaLnBrk="1" latinLnBrk="0" hangingPunct="1">
      <a:lnSpc>
        <a:spcPct val="12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139696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67635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95574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23514" algn="l" defTabSz="85587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Underlying motivation: High 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9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97 Mt total</a:t>
            </a:r>
          </a:p>
          <a:p>
            <a:r>
              <a:rPr lang="en-GB" dirty="0"/>
              <a:t>43 Mt industry</a:t>
            </a:r>
          </a:p>
          <a:p>
            <a:r>
              <a:rPr lang="en-GB" dirty="0"/>
              <a:t>32,4 Mt ammonia</a:t>
            </a:r>
          </a:p>
          <a:p>
            <a:r>
              <a:rPr lang="en-GB" dirty="0"/>
              <a:t>16,2 Mt methanol</a:t>
            </a:r>
          </a:p>
          <a:p>
            <a:r>
              <a:rPr lang="en-GB" dirty="0"/>
              <a:t>5,4 Mt steel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6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E796-FA99-AF89-BB5E-1CC2D100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5DC20-FBEC-6D65-B2AB-060D9F53D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A1B0-0847-20B0-CE3B-586B1DE2D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2024:</a:t>
            </a:r>
          </a:p>
          <a:p>
            <a:r>
              <a:rPr lang="en-GB" dirty="0"/>
              <a:t>100 Mt total</a:t>
            </a:r>
          </a:p>
          <a:p>
            <a:r>
              <a:rPr lang="en-GB" dirty="0"/>
              <a:t>55 Mt industry</a:t>
            </a:r>
          </a:p>
          <a:p>
            <a:r>
              <a:rPr lang="en-GB" dirty="0"/>
              <a:t>33 Mt ammonia</a:t>
            </a:r>
          </a:p>
          <a:p>
            <a:r>
              <a:rPr lang="en-GB" dirty="0"/>
              <a:t>16,5 Mt methanol</a:t>
            </a:r>
          </a:p>
          <a:p>
            <a:r>
              <a:rPr lang="en-GB" dirty="0"/>
              <a:t>5,5 Mt steel</a:t>
            </a:r>
          </a:p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A692CF6-6B4E-23C1-25D4-9AD3AA1DE48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49437-8252-F5B3-C555-03629AABCE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14CE0-DCA3-57F4-122A-B5E72E9A17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B63B9-17C9-4DED-D107-E8ECB07F1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40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98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92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45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5CA7BE6-D8C2-4E37-92BC-E832C561DB77}" type="datetime1">
              <a:rPr lang="de-DE" smtClean="0"/>
              <a:t>29.04.26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37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 Institute Sublogo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4450086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3" name="Titel 12"/>
          <p:cNvSpPr>
            <a:spLocks noGrp="1"/>
          </p:cNvSpPr>
          <p:nvPr>
            <p:ph type="ctrTitle"/>
          </p:nvPr>
        </p:nvSpPr>
        <p:spPr>
          <a:xfrm>
            <a:off x="6943200" y="165977"/>
            <a:ext cx="5248800" cy="5941460"/>
          </a:xfrm>
          <a:custGeom>
            <a:avLst/>
            <a:gdLst>
              <a:gd name="connsiteX0" fmla="*/ 2919324 w 4494916"/>
              <a:gd name="connsiteY0" fmla="*/ 0 h 5089347"/>
              <a:gd name="connsiteX1" fmla="*/ 4310847 w 4494916"/>
              <a:gd name="connsiteY1" fmla="*/ 352347 h 5089347"/>
              <a:gd name="connsiteX2" fmla="*/ 4494916 w 4494916"/>
              <a:gd name="connsiteY2" fmla="*/ 464171 h 5089347"/>
              <a:gd name="connsiteX3" fmla="*/ 4494916 w 4494916"/>
              <a:gd name="connsiteY3" fmla="*/ 5089347 h 5089347"/>
              <a:gd name="connsiteX4" fmla="*/ 971404 w 4494916"/>
              <a:gd name="connsiteY4" fmla="*/ 5089347 h 5089347"/>
              <a:gd name="connsiteX5" fmla="*/ 855050 w 4494916"/>
              <a:gd name="connsiteY5" fmla="*/ 4983598 h 5089347"/>
              <a:gd name="connsiteX6" fmla="*/ 0 w 4494916"/>
              <a:gd name="connsiteY6" fmla="*/ 2919324 h 5089347"/>
              <a:gd name="connsiteX7" fmla="*/ 2919324 w 4494916"/>
              <a:gd name="connsiteY7" fmla="*/ 0 h 50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4916" h="5089347">
                <a:moveTo>
                  <a:pt x="2919324" y="0"/>
                </a:moveTo>
                <a:cubicBezTo>
                  <a:pt x="3423167" y="0"/>
                  <a:pt x="3897199" y="127639"/>
                  <a:pt x="4310847" y="352347"/>
                </a:cubicBezTo>
                <a:lnTo>
                  <a:pt x="4494916" y="464171"/>
                </a:lnTo>
                <a:lnTo>
                  <a:pt x="4494916" y="5089347"/>
                </a:lnTo>
                <a:lnTo>
                  <a:pt x="971404" y="5089347"/>
                </a:lnTo>
                <a:lnTo>
                  <a:pt x="855050" y="4983598"/>
                </a:lnTo>
                <a:cubicBezTo>
                  <a:pt x="326757" y="4455304"/>
                  <a:pt x="0" y="3725473"/>
                  <a:pt x="0" y="2919324"/>
                </a:cubicBezTo>
                <a:cubicBezTo>
                  <a:pt x="0" y="1307026"/>
                  <a:pt x="1307026" y="0"/>
                  <a:pt x="2919324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1000" b="1" baseline="0">
                <a:solidFill>
                  <a:schemeClr val="accent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2895" y="4959645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7672895" y="1457332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5A46B34C-7859-BB40-901F-AA58A716531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444495" y="6326263"/>
            <a:ext cx="1422400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758425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1 Institute Sublogo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4450086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3" name="Titel 12"/>
          <p:cNvSpPr>
            <a:spLocks noGrp="1"/>
          </p:cNvSpPr>
          <p:nvPr>
            <p:ph type="ctrTitle"/>
          </p:nvPr>
        </p:nvSpPr>
        <p:spPr>
          <a:xfrm>
            <a:off x="6943200" y="165977"/>
            <a:ext cx="5248800" cy="5941460"/>
          </a:xfrm>
          <a:custGeom>
            <a:avLst/>
            <a:gdLst>
              <a:gd name="connsiteX0" fmla="*/ 2919324 w 4494916"/>
              <a:gd name="connsiteY0" fmla="*/ 0 h 5089347"/>
              <a:gd name="connsiteX1" fmla="*/ 4310847 w 4494916"/>
              <a:gd name="connsiteY1" fmla="*/ 352347 h 5089347"/>
              <a:gd name="connsiteX2" fmla="*/ 4494916 w 4494916"/>
              <a:gd name="connsiteY2" fmla="*/ 464171 h 5089347"/>
              <a:gd name="connsiteX3" fmla="*/ 4494916 w 4494916"/>
              <a:gd name="connsiteY3" fmla="*/ 5089347 h 5089347"/>
              <a:gd name="connsiteX4" fmla="*/ 971404 w 4494916"/>
              <a:gd name="connsiteY4" fmla="*/ 5089347 h 5089347"/>
              <a:gd name="connsiteX5" fmla="*/ 855050 w 4494916"/>
              <a:gd name="connsiteY5" fmla="*/ 4983598 h 5089347"/>
              <a:gd name="connsiteX6" fmla="*/ 0 w 4494916"/>
              <a:gd name="connsiteY6" fmla="*/ 2919324 h 5089347"/>
              <a:gd name="connsiteX7" fmla="*/ 2919324 w 4494916"/>
              <a:gd name="connsiteY7" fmla="*/ 0 h 50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4916" h="5089347">
                <a:moveTo>
                  <a:pt x="2919324" y="0"/>
                </a:moveTo>
                <a:cubicBezTo>
                  <a:pt x="3423167" y="0"/>
                  <a:pt x="3897199" y="127639"/>
                  <a:pt x="4310847" y="352347"/>
                </a:cubicBezTo>
                <a:lnTo>
                  <a:pt x="4494916" y="464171"/>
                </a:lnTo>
                <a:lnTo>
                  <a:pt x="4494916" y="5089347"/>
                </a:lnTo>
                <a:lnTo>
                  <a:pt x="971404" y="5089347"/>
                </a:lnTo>
                <a:lnTo>
                  <a:pt x="855050" y="4983598"/>
                </a:lnTo>
                <a:cubicBezTo>
                  <a:pt x="326757" y="4455304"/>
                  <a:pt x="0" y="3725473"/>
                  <a:pt x="0" y="2919324"/>
                </a:cubicBezTo>
                <a:cubicBezTo>
                  <a:pt x="0" y="1307026"/>
                  <a:pt x="1307026" y="0"/>
                  <a:pt x="2919324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1000" b="1" baseline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2895" y="4959645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7672895" y="1457332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5A46B34C-7859-BB40-901F-AA58A716531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444495" y="6326263"/>
            <a:ext cx="1422400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2053542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1 Institute Sublogo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4450086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3" name="Titel 12"/>
          <p:cNvSpPr>
            <a:spLocks noGrp="1"/>
          </p:cNvSpPr>
          <p:nvPr>
            <p:ph type="ctrTitle"/>
          </p:nvPr>
        </p:nvSpPr>
        <p:spPr>
          <a:xfrm>
            <a:off x="6943200" y="165977"/>
            <a:ext cx="5248800" cy="5941460"/>
          </a:xfrm>
          <a:custGeom>
            <a:avLst/>
            <a:gdLst>
              <a:gd name="connsiteX0" fmla="*/ 2919324 w 4494916"/>
              <a:gd name="connsiteY0" fmla="*/ 0 h 5089347"/>
              <a:gd name="connsiteX1" fmla="*/ 4310847 w 4494916"/>
              <a:gd name="connsiteY1" fmla="*/ 352347 h 5089347"/>
              <a:gd name="connsiteX2" fmla="*/ 4494916 w 4494916"/>
              <a:gd name="connsiteY2" fmla="*/ 464171 h 5089347"/>
              <a:gd name="connsiteX3" fmla="*/ 4494916 w 4494916"/>
              <a:gd name="connsiteY3" fmla="*/ 5089347 h 5089347"/>
              <a:gd name="connsiteX4" fmla="*/ 971404 w 4494916"/>
              <a:gd name="connsiteY4" fmla="*/ 5089347 h 5089347"/>
              <a:gd name="connsiteX5" fmla="*/ 855050 w 4494916"/>
              <a:gd name="connsiteY5" fmla="*/ 4983598 h 5089347"/>
              <a:gd name="connsiteX6" fmla="*/ 0 w 4494916"/>
              <a:gd name="connsiteY6" fmla="*/ 2919324 h 5089347"/>
              <a:gd name="connsiteX7" fmla="*/ 2919324 w 4494916"/>
              <a:gd name="connsiteY7" fmla="*/ 0 h 50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94916" h="5089347">
                <a:moveTo>
                  <a:pt x="2919324" y="0"/>
                </a:moveTo>
                <a:cubicBezTo>
                  <a:pt x="3423167" y="0"/>
                  <a:pt x="3897199" y="127639"/>
                  <a:pt x="4310847" y="352347"/>
                </a:cubicBezTo>
                <a:lnTo>
                  <a:pt x="4494916" y="464171"/>
                </a:lnTo>
                <a:lnTo>
                  <a:pt x="4494916" y="5089347"/>
                </a:lnTo>
                <a:lnTo>
                  <a:pt x="971404" y="5089347"/>
                </a:lnTo>
                <a:lnTo>
                  <a:pt x="855050" y="4983598"/>
                </a:lnTo>
                <a:cubicBezTo>
                  <a:pt x="326757" y="4455304"/>
                  <a:pt x="0" y="3725473"/>
                  <a:pt x="0" y="2919324"/>
                </a:cubicBezTo>
                <a:cubicBezTo>
                  <a:pt x="0" y="1307026"/>
                  <a:pt x="1307026" y="0"/>
                  <a:pt x="2919324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1000" b="1" baseline="0">
                <a:solidFill>
                  <a:schemeClr val="accent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72895" y="4959645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7672895" y="1457332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7" name="Bildplatzhalter 6">
            <a:extLst>
              <a:ext uri="{FF2B5EF4-FFF2-40B4-BE49-F238E27FC236}">
                <a16:creationId xmlns:a16="http://schemas.microsoft.com/office/drawing/2014/main" id="{5A46B34C-7859-BB40-901F-AA58A716531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444495" y="6326263"/>
            <a:ext cx="1422400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206687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 Institute Sublogo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657351"/>
            <a:ext cx="12192000" cy="5202810"/>
          </a:xfrm>
          <a:solidFill>
            <a:schemeClr val="bg1">
              <a:lumMod val="85000"/>
            </a:schemeClr>
          </a:solidFill>
        </p:spPr>
        <p:txBody>
          <a:bodyPr lIns="86400"/>
          <a:lstStyle>
            <a:lvl1pPr marL="0" indent="0">
              <a:buNone/>
              <a:defRPr sz="1400"/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4" name="Titel 13"/>
          <p:cNvSpPr>
            <a:spLocks noGrp="1"/>
          </p:cNvSpPr>
          <p:nvPr>
            <p:ph type="ctrTitle"/>
          </p:nvPr>
        </p:nvSpPr>
        <p:spPr>
          <a:xfrm>
            <a:off x="6943200" y="914400"/>
            <a:ext cx="5248800" cy="5943600"/>
          </a:xfrm>
          <a:custGeom>
            <a:avLst/>
            <a:gdLst>
              <a:gd name="connsiteX0" fmla="*/ 3097937 w 4635106"/>
              <a:gd name="connsiteY0" fmla="*/ 0 h 5265775"/>
              <a:gd name="connsiteX1" fmla="*/ 4574598 w 4635106"/>
              <a:gd name="connsiteY1" fmla="*/ 373905 h 5265775"/>
              <a:gd name="connsiteX2" fmla="*/ 4635106 w 4635106"/>
              <a:gd name="connsiteY2" fmla="*/ 410664 h 5265775"/>
              <a:gd name="connsiteX3" fmla="*/ 4635106 w 4635106"/>
              <a:gd name="connsiteY3" fmla="*/ 5265775 h 5265775"/>
              <a:gd name="connsiteX4" fmla="*/ 886703 w 4635106"/>
              <a:gd name="connsiteY4" fmla="*/ 5265775 h 5265775"/>
              <a:gd name="connsiteX5" fmla="*/ 707419 w 4635106"/>
              <a:gd name="connsiteY5" fmla="*/ 5068513 h 5265775"/>
              <a:gd name="connsiteX6" fmla="*/ 0 w 4635106"/>
              <a:gd name="connsiteY6" fmla="*/ 3097937 h 5265775"/>
              <a:gd name="connsiteX7" fmla="*/ 3097937 w 4635106"/>
              <a:gd name="connsiteY7" fmla="*/ 0 h 526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5106" h="5265775">
                <a:moveTo>
                  <a:pt x="3097937" y="0"/>
                </a:moveTo>
                <a:cubicBezTo>
                  <a:pt x="3632607" y="0"/>
                  <a:pt x="4135641" y="135449"/>
                  <a:pt x="4574598" y="373905"/>
                </a:cubicBezTo>
                <a:lnTo>
                  <a:pt x="4635106" y="410664"/>
                </a:lnTo>
                <a:lnTo>
                  <a:pt x="4635106" y="5265775"/>
                </a:lnTo>
                <a:lnTo>
                  <a:pt x="886703" y="5265775"/>
                </a:lnTo>
                <a:lnTo>
                  <a:pt x="707419" y="5068513"/>
                </a:lnTo>
                <a:cubicBezTo>
                  <a:pt x="265480" y="4533007"/>
                  <a:pt x="0" y="3846475"/>
                  <a:pt x="0" y="3097937"/>
                </a:cubicBezTo>
                <a:cubicBezTo>
                  <a:pt x="0" y="1386994"/>
                  <a:pt x="1386994" y="0"/>
                  <a:pt x="3097937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1512000" anchor="b" anchorCtr="0">
            <a:noAutofit/>
          </a:bodyPr>
          <a:lstStyle>
            <a:lvl1pPr marL="0" indent="0" algn="ctr">
              <a:lnSpc>
                <a:spcPct val="90000"/>
              </a:lnSpc>
              <a:defRPr sz="200" b="1" baseline="0">
                <a:solidFill>
                  <a:schemeClr val="accent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03332F8-145F-8244-A6CC-A5DD381B365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45790" y="2168407"/>
            <a:ext cx="1602000" cy="160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0A0458E-EE68-A84D-A4EE-7982ACB8F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2895" y="5803706"/>
            <a:ext cx="4194000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76066766-A707-0E43-9B6A-3DDA799150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72895" y="2301393"/>
            <a:ext cx="4194000" cy="3434716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62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5"/>
          </p:nvPr>
        </p:nvSpPr>
        <p:spPr>
          <a:xfrm>
            <a:off x="0" y="1657354"/>
            <a:ext cx="12192000" cy="4450086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marR="0" indent="0" algn="l" defTabSz="685745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745" rtl="0" eaLnBrk="1" fontAlgn="auto" latinLnBrk="0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Bild durch Klicken auf Symbol hinzufügen</a:t>
            </a:r>
            <a:endParaRPr lang="en-US" dirty="0"/>
          </a:p>
          <a:p>
            <a:endParaRPr lang="en-US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9671059" y="6307456"/>
            <a:ext cx="1896533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86229" y="3898274"/>
            <a:ext cx="4128847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342865" indent="0" algn="ctr">
              <a:buNone/>
              <a:defRPr sz="1500"/>
            </a:lvl2pPr>
            <a:lvl3pPr marL="685728" indent="0" algn="ctr">
              <a:buNone/>
              <a:defRPr sz="1400"/>
            </a:lvl3pPr>
            <a:lvl4pPr marL="1028593" indent="0" algn="ctr">
              <a:buNone/>
              <a:defRPr sz="1200"/>
            </a:lvl4pPr>
            <a:lvl5pPr marL="1371455" indent="0" algn="ctr">
              <a:buNone/>
              <a:defRPr sz="1200"/>
            </a:lvl5pPr>
            <a:lvl6pPr marL="1714320" indent="0" algn="ctr">
              <a:buNone/>
              <a:defRPr sz="1200"/>
            </a:lvl6pPr>
            <a:lvl7pPr marL="2057183" indent="0" algn="ctr">
              <a:buNone/>
              <a:defRPr sz="1200"/>
            </a:lvl7pPr>
            <a:lvl8pPr marL="2400048" indent="0" algn="ctr">
              <a:buNone/>
              <a:defRPr sz="1200"/>
            </a:lvl8pPr>
            <a:lvl9pPr marL="2742913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5150101" y="3081397"/>
            <a:ext cx="1602000" cy="16020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B25DEB5D-BE92-2D43-AAF7-CDE6302C5C7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317972" y="879458"/>
            <a:ext cx="5014286" cy="46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2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1657351"/>
            <a:ext cx="12192000" cy="52028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de-DE" sz="1900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24840" y="5555814"/>
            <a:ext cx="5693133" cy="54009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624840" y="1809749"/>
            <a:ext cx="5692141" cy="3628800"/>
          </a:xfrm>
        </p:spPr>
        <p:txBody>
          <a:bodyPr/>
          <a:lstStyle>
            <a:lvl1pPr marL="0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9E0AFB3-E1AB-4E4F-8D59-A12ED29B681F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317972" y="879458"/>
            <a:ext cx="5014286" cy="46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Bildplatzhalter 4"/>
          <p:cNvSpPr>
            <a:spLocks noGrp="1"/>
          </p:cNvSpPr>
          <p:nvPr>
            <p:ph type="pic" sz="quarter" idx="16" hasCustomPrompt="1"/>
          </p:nvPr>
        </p:nvSpPr>
        <p:spPr>
          <a:xfrm>
            <a:off x="9507802" y="4463429"/>
            <a:ext cx="1602000" cy="160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145490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4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>
          <a:xfrm>
            <a:off x="0" y="1657351"/>
            <a:ext cx="12192000" cy="44500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 lang="de-DE" sz="1900" dirty="0"/>
          </a:p>
        </p:txBody>
      </p:sp>
      <p:sp>
        <p:nvSpPr>
          <p:cNvPr id="8" name="Bildplatzhalter 4"/>
          <p:cNvSpPr>
            <a:spLocks noGrp="1" noChangeAspect="1"/>
          </p:cNvSpPr>
          <p:nvPr>
            <p:ph type="pic" sz="quarter" idx="15"/>
          </p:nvPr>
        </p:nvSpPr>
        <p:spPr>
          <a:xfrm>
            <a:off x="6317972" y="879458"/>
            <a:ext cx="5014286" cy="46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24840" y="5355797"/>
            <a:ext cx="5693133" cy="614153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900">
                <a:solidFill>
                  <a:schemeClr val="bg1"/>
                </a:solidFill>
              </a:defRPr>
            </a:lvl1pPr>
            <a:lvl2pPr marL="342874" indent="0" algn="ctr">
              <a:buNone/>
              <a:defRPr sz="1500"/>
            </a:lvl2pPr>
            <a:lvl3pPr marL="685745" indent="0" algn="ctr">
              <a:buNone/>
              <a:defRPr sz="1400"/>
            </a:lvl3pPr>
            <a:lvl4pPr marL="1028618" indent="0" algn="ctr">
              <a:buNone/>
              <a:defRPr sz="1200"/>
            </a:lvl4pPr>
            <a:lvl5pPr marL="1371490" indent="0" algn="ctr">
              <a:buNone/>
              <a:defRPr sz="1200"/>
            </a:lvl5pPr>
            <a:lvl6pPr marL="1714363" indent="0" algn="ctr">
              <a:buNone/>
              <a:defRPr sz="1200"/>
            </a:lvl6pPr>
            <a:lvl7pPr marL="2057234" indent="0" algn="ctr">
              <a:buNone/>
              <a:defRPr sz="1200"/>
            </a:lvl7pPr>
            <a:lvl8pPr marL="2400108" indent="0" algn="ctr">
              <a:buNone/>
              <a:defRPr sz="1200"/>
            </a:lvl8pPr>
            <a:lvl9pPr marL="2742982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9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9671055" y="6307456"/>
            <a:ext cx="1896533" cy="36576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  <p:sp>
        <p:nvSpPr>
          <p:cNvPr id="10" name="Textplatzhalter 2"/>
          <p:cNvSpPr>
            <a:spLocks noGrp="1"/>
          </p:cNvSpPr>
          <p:nvPr>
            <p:ph type="body" sz="quarter" idx="18"/>
          </p:nvPr>
        </p:nvSpPr>
        <p:spPr>
          <a:xfrm>
            <a:off x="624840" y="1809749"/>
            <a:ext cx="5692141" cy="3521908"/>
          </a:xfrm>
        </p:spPr>
        <p:txBody>
          <a:bodyPr/>
          <a:lstStyle>
            <a:lvl1pPr marL="0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1pPr>
            <a:lvl2pPr marL="176198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2pPr>
            <a:lvl3pPr marL="360334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3pPr>
            <a:lvl4pPr marL="536532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4pPr>
            <a:lvl5pPr marL="720667" indent="0">
              <a:lnSpc>
                <a:spcPct val="90000"/>
              </a:lnSpc>
              <a:buFontTx/>
              <a:buNone/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127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/>
          <p:cNvSpPr>
            <a:spLocks noGrp="1"/>
          </p:cNvSpPr>
          <p:nvPr>
            <p:ph type="pic" sz="quarter" idx="14"/>
          </p:nvPr>
        </p:nvSpPr>
        <p:spPr>
          <a:xfrm>
            <a:off x="762057" y="2558849"/>
            <a:ext cx="1728000" cy="173101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41" y="500256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3275841" y="2790720"/>
            <a:ext cx="5264087" cy="259200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3275840" y="3319169"/>
            <a:ext cx="3538979" cy="9706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 err="1">
                <a:solidFill>
                  <a:schemeClr val="tx2"/>
                </a:solidFill>
              </a:rPr>
              <a:t>E-mail</a:t>
            </a:r>
            <a:r>
              <a:rPr lang="de-DE" sz="1400" dirty="0">
                <a:solidFill>
                  <a:schemeClr val="tx2"/>
                </a:solidFill>
              </a:rPr>
              <a:t>	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Telefon 	+49 (0) 711 685-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www.</a:t>
            </a:r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5240147" y="3602272"/>
            <a:ext cx="1038827" cy="285996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23" name="Textfeld 22"/>
          <p:cNvSpPr txBox="1"/>
          <p:nvPr userDrawn="1"/>
        </p:nvSpPr>
        <p:spPr>
          <a:xfrm>
            <a:off x="3275840" y="4392128"/>
            <a:ext cx="4000019" cy="262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Universität</a:t>
            </a:r>
            <a:r>
              <a:rPr lang="de-DE" sz="1400" baseline="0" dirty="0">
                <a:solidFill>
                  <a:schemeClr val="tx2"/>
                </a:solidFill>
              </a:rPr>
              <a:t> Stuttgart</a:t>
            </a:r>
            <a:endParaRPr lang="de-DE" sz="1400" dirty="0">
              <a:solidFill>
                <a:schemeClr val="tx2"/>
              </a:solidFill>
            </a:endParaRP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3275841" y="469475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3905574" y="3308540"/>
            <a:ext cx="4634355" cy="24512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3905574" y="3903676"/>
            <a:ext cx="4634353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762057" y="1672821"/>
            <a:ext cx="11027867" cy="379413"/>
          </a:xfrm>
        </p:spPr>
        <p:txBody>
          <a:bodyPr/>
          <a:lstStyle>
            <a:lvl1pPr marL="0" indent="0">
              <a:buNone/>
              <a:defRPr sz="22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Vielen Dank! oder Präsentationstitel oder was auch immer …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A7B30D46-842E-7F46-9E00-D67E8DF78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943" y="405886"/>
            <a:ext cx="1338981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lussfolie mit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7"/>
          <p:cNvSpPr>
            <a:spLocks noGrp="1"/>
          </p:cNvSpPr>
          <p:nvPr>
            <p:ph type="pic" sz="quarter" idx="14"/>
          </p:nvPr>
        </p:nvSpPr>
        <p:spPr>
          <a:xfrm>
            <a:off x="762057" y="2558849"/>
            <a:ext cx="1728000" cy="173101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18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41" y="500256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3275841" y="2790720"/>
            <a:ext cx="5264087" cy="259200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3275840" y="3319169"/>
            <a:ext cx="3538979" cy="9706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 err="1">
                <a:solidFill>
                  <a:schemeClr val="tx2"/>
                </a:solidFill>
              </a:rPr>
              <a:t>E-mail</a:t>
            </a:r>
            <a:r>
              <a:rPr lang="de-DE" sz="1400" dirty="0">
                <a:solidFill>
                  <a:schemeClr val="tx2"/>
                </a:solidFill>
              </a:rPr>
              <a:t>	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Telefon 	+49 (0) 711 685-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www.</a:t>
            </a:r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5240147" y="3602272"/>
            <a:ext cx="1038827" cy="285996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23" name="Textfeld 22"/>
          <p:cNvSpPr txBox="1"/>
          <p:nvPr userDrawn="1"/>
        </p:nvSpPr>
        <p:spPr>
          <a:xfrm>
            <a:off x="3275840" y="4392128"/>
            <a:ext cx="4000019" cy="262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Universität</a:t>
            </a:r>
            <a:r>
              <a:rPr lang="de-DE" sz="1400" baseline="0" dirty="0">
                <a:solidFill>
                  <a:schemeClr val="tx2"/>
                </a:solidFill>
              </a:rPr>
              <a:t> Stuttgart</a:t>
            </a:r>
            <a:endParaRPr lang="de-DE" sz="1400" dirty="0">
              <a:solidFill>
                <a:schemeClr val="tx2"/>
              </a:solidFill>
            </a:endParaRP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3275841" y="4694750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3905574" y="3308540"/>
            <a:ext cx="4634355" cy="24512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3905574" y="3903676"/>
            <a:ext cx="4634353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762057" y="1672821"/>
            <a:ext cx="11027867" cy="379413"/>
          </a:xfrm>
        </p:spPr>
        <p:txBody>
          <a:bodyPr/>
          <a:lstStyle>
            <a:lvl1pPr marL="0" indent="0">
              <a:buNone/>
              <a:defRPr sz="22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Vielen Dank! oder Präsentationstitel oder was auch immer …</a:t>
            </a:r>
          </a:p>
        </p:txBody>
      </p:sp>
    </p:spTree>
    <p:extLst>
      <p:ext uri="{BB962C8B-B14F-4D97-AF65-F5344CB8AC3E}">
        <p14:creationId xmlns:p14="http://schemas.microsoft.com/office/powerpoint/2010/main" val="287823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lussfolie mit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2673675" y="4987311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2673675" y="2775471"/>
            <a:ext cx="5264087" cy="259200"/>
          </a:xfr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feld 19"/>
          <p:cNvSpPr txBox="1"/>
          <p:nvPr userDrawn="1"/>
        </p:nvSpPr>
        <p:spPr>
          <a:xfrm>
            <a:off x="2673674" y="3303920"/>
            <a:ext cx="3538979" cy="9706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✉️ 	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📞 +49 (0) 711 685-</a:t>
            </a:r>
          </a:p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 err="1">
                <a:solidFill>
                  <a:schemeClr val="tx2"/>
                </a:solidFill>
              </a:rPr>
              <a:t>www.icvt.uni-stuttgart.de</a:t>
            </a:r>
            <a:endParaRPr lang="de-DE" sz="1400" dirty="0">
              <a:solidFill>
                <a:schemeClr val="tx2"/>
              </a:solidFill>
            </a:endParaRPr>
          </a:p>
        </p:txBody>
      </p:sp>
      <p:sp>
        <p:nvSpPr>
          <p:cNvPr id="21" name="Textplatzhalt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4204011" y="3587023"/>
            <a:ext cx="1472798" cy="26924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23" name="Textfeld 22"/>
          <p:cNvSpPr txBox="1"/>
          <p:nvPr userDrawn="1"/>
        </p:nvSpPr>
        <p:spPr>
          <a:xfrm>
            <a:off x="2673674" y="4376879"/>
            <a:ext cx="4000019" cy="262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40"/>
              </a:spcBef>
              <a:spcAft>
                <a:spcPts val="0"/>
              </a:spcAft>
              <a:tabLst>
                <a:tab pos="649606" algn="l"/>
              </a:tabLst>
            </a:pPr>
            <a:r>
              <a:rPr lang="de-DE" sz="1400" dirty="0">
                <a:solidFill>
                  <a:schemeClr val="tx2"/>
                </a:solidFill>
              </a:rPr>
              <a:t>Universität</a:t>
            </a:r>
            <a:r>
              <a:rPr lang="de-DE" sz="1400" baseline="0" dirty="0">
                <a:solidFill>
                  <a:schemeClr val="tx2"/>
                </a:solidFill>
              </a:rPr>
              <a:t> Stuttgart</a:t>
            </a:r>
            <a:endParaRPr lang="de-DE" sz="1400" dirty="0">
              <a:solidFill>
                <a:schemeClr val="tx2"/>
              </a:solidFill>
            </a:endParaRP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2673675" y="4679501"/>
            <a:ext cx="5264087" cy="259200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25" name="Textplatzhalt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2921620" y="3293291"/>
            <a:ext cx="5016143" cy="29373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Emailadresse eingeben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52547" y="1654686"/>
            <a:ext cx="11027867" cy="379413"/>
          </a:xfrm>
        </p:spPr>
        <p:txBody>
          <a:bodyPr/>
          <a:lstStyle>
            <a:lvl1pPr marL="0" indent="0">
              <a:buNone/>
              <a:defRPr sz="22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Vielen Dank! oder Präsentationstitel oder was auch immer …</a:t>
            </a:r>
          </a:p>
        </p:txBody>
      </p:sp>
      <p:pic>
        <p:nvPicPr>
          <p:cNvPr id="12" name="Bildplatzhalter 8">
            <a:extLst>
              <a:ext uri="{FF2B5EF4-FFF2-40B4-BE49-F238E27FC236}">
                <a16:creationId xmlns:a16="http://schemas.microsoft.com/office/drawing/2014/main" id="{24A45317-4D30-F842-A6EE-5A4D187CA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2547" y="2775471"/>
            <a:ext cx="1706260" cy="97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95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&quot;leer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79092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216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4" y="985366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86940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434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itel 8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58937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0" y="1381887"/>
            <a:ext cx="5280000" cy="4882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584" y="1381986"/>
            <a:ext cx="5280000" cy="48819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0" y="985952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904647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&quot;leer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5120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216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4" y="985366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44647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422" y="1381434"/>
            <a:ext cx="10943167" cy="4882514"/>
          </a:xfrm>
        </p:spPr>
        <p:txBody>
          <a:bodyPr/>
          <a:lstStyle>
            <a:lvl1pPr>
              <a:defRPr sz="1900">
                <a:solidFill>
                  <a:schemeClr val="tx2"/>
                </a:solidFill>
              </a:defRPr>
            </a:lvl1pPr>
            <a:lvl2pPr>
              <a:defRPr sz="1900">
                <a:solidFill>
                  <a:schemeClr val="tx2"/>
                </a:solidFill>
              </a:defRPr>
            </a:lvl2pPr>
            <a:lvl3pPr>
              <a:defRPr sz="1700">
                <a:solidFill>
                  <a:schemeClr val="tx2"/>
                </a:solidFill>
              </a:defRPr>
            </a:lvl3pPr>
            <a:lvl4pPr>
              <a:defRPr sz="1700">
                <a:solidFill>
                  <a:schemeClr val="tx2"/>
                </a:solidFill>
              </a:defRPr>
            </a:lvl4pPr>
            <a:lvl5pPr>
              <a:defRPr sz="17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itel 8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97035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000" y="1381887"/>
            <a:ext cx="5280000" cy="4882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7584" y="1381986"/>
            <a:ext cx="5280000" cy="48819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24000" y="985952"/>
            <a:ext cx="10944000" cy="331470"/>
          </a:xfrm>
        </p:spPr>
        <p:txBody>
          <a:bodyPr lIns="0" tIns="0" rIns="0" bIns="0"/>
          <a:lstStyle>
            <a:lvl1pPr marL="0" indent="0">
              <a:buNone/>
              <a:defRPr sz="2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38542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1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ags" Target="../tags/tag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7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ags" Target="../tags/tag3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7BA7377-A720-7564-E2FE-BB4D23524E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2470744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7772400" imgH="10058400" progId="TCLayout.ActiveDocument.1">
                  <p:embed/>
                </p:oleObj>
              </mc:Choice>
              <mc:Fallback>
                <p:oleObj name="think-cell Slide" r:id="rId1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6" name="Picture 2" descr="E:\Veröffentlichungen\Poster_ICVT\unistuttgart_logo_deutsch_cmyk.emf">
            <a:extLst>
              <a:ext uri="{FF2B5EF4-FFF2-40B4-BE49-F238E27FC236}">
                <a16:creationId xmlns:a16="http://schemas.microsoft.com/office/drawing/2014/main" id="{8C3FB809-06A0-6849-9AD9-A7C9896FAB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1" y="414000"/>
            <a:ext cx="2549819" cy="51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365B01D-435E-1248-B38D-F82E314D874D}"/>
              </a:ext>
            </a:extLst>
          </p:cNvPr>
          <p:cNvSpPr txBox="1"/>
          <p:nvPr userDrawn="1"/>
        </p:nvSpPr>
        <p:spPr>
          <a:xfrm>
            <a:off x="1296574" y="764296"/>
            <a:ext cx="3213765" cy="570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855878" rtl="0" eaLnBrk="1" fontAlgn="auto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400" dirty="0">
                <a:solidFill>
                  <a:schemeClr val="tx2"/>
                </a:solidFill>
              </a:rPr>
              <a:t>Institut für Chemische Verfahrenstechnik</a:t>
            </a:r>
          </a:p>
          <a:p>
            <a:pPr marL="0" indent="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de-DE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20" r:id="rId2"/>
    <p:sldLayoutId id="2147483721" r:id="rId3"/>
    <p:sldLayoutId id="2147483661" r:id="rId4"/>
    <p:sldLayoutId id="2147483691" r:id="rId5"/>
    <p:sldLayoutId id="2147483688" r:id="rId6"/>
    <p:sldLayoutId id="2147483690" r:id="rId7"/>
    <p:sldLayoutId id="2147483686" r:id="rId8"/>
    <p:sldLayoutId id="2147483722" r:id="rId9"/>
    <p:sldLayoutId id="2147483728" r:id="rId10"/>
  </p:sldLayoutIdLst>
  <p:hf hd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 userDrawn="1">
          <p15:clr>
            <a:srgbClr val="F26B43"/>
          </p15:clr>
        </p15:guide>
        <p15:guide id="2" pos="328" userDrawn="1">
          <p15:clr>
            <a:srgbClr val="F26B43"/>
          </p15:clr>
        </p15:guide>
        <p15:guide id="3" orient="horz" pos="3206" userDrawn="1">
          <p15:clr>
            <a:srgbClr val="F26B43"/>
          </p15:clr>
        </p15:guide>
        <p15:guide id="4" pos="60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30B75A9-ABDC-1D04-782F-EB2ACA7A93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7545784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89123" y="6589158"/>
            <a:ext cx="96047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000" smtClean="0"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36278" y="6589158"/>
            <a:ext cx="331311" cy="1582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38641" y="6562854"/>
            <a:ext cx="7740113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8558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7939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87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381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1757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9696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7635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557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351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2"/>
                </a:solidFill>
              </a:rPr>
              <a:t>Universität</a:t>
            </a:r>
            <a:r>
              <a:rPr lang="en-US" sz="1000" baseline="0" dirty="0">
                <a:solidFill>
                  <a:schemeClr val="tx2"/>
                </a:solidFill>
              </a:rPr>
              <a:t> </a:t>
            </a:r>
            <a:r>
              <a:rPr lang="en-US" sz="1000" dirty="0">
                <a:solidFill>
                  <a:schemeClr val="tx2"/>
                </a:solidFill>
              </a:rPr>
              <a:t>Stuttgart</a:t>
            </a:r>
          </a:p>
        </p:txBody>
      </p:sp>
      <p:cxnSp>
        <p:nvCxnSpPr>
          <p:cNvPr id="10" name="Gerade Verbindung 5"/>
          <p:cNvCxnSpPr/>
          <p:nvPr userDrawn="1"/>
        </p:nvCxnSpPr>
        <p:spPr>
          <a:xfrm>
            <a:off x="1" y="761100"/>
            <a:ext cx="10297169" cy="8392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2"/>
                </a:gs>
                <a:gs pos="39999">
                  <a:schemeClr val="accent2">
                    <a:lumMod val="60000"/>
                    <a:lumOff val="40000"/>
                  </a:schemeClr>
                </a:gs>
                <a:gs pos="70000">
                  <a:schemeClr val="accent2">
                    <a:lumMod val="40000"/>
                    <a:lumOff val="6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B8ABCFC8-84BF-F846-A34B-24282AB4615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497" y="68093"/>
            <a:ext cx="1338981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4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09" r:id="rId2"/>
    <p:sldLayoutId id="2147483710" r:id="rId3"/>
    <p:sldLayoutId id="2147483711" r:id="rId4"/>
  </p:sldLayoutIdLst>
  <p:hf hd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 userDrawn="1">
          <p15:clr>
            <a:srgbClr val="F26B43"/>
          </p15:clr>
        </p15:guide>
        <p15:guide id="2" pos="328" userDrawn="1">
          <p15:clr>
            <a:srgbClr val="F26B43"/>
          </p15:clr>
        </p15:guide>
        <p15:guide id="3" orient="horz" pos="3206" userDrawn="1">
          <p15:clr>
            <a:srgbClr val="F26B43"/>
          </p15:clr>
        </p15:guide>
        <p15:guide id="4" pos="607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0CC2E40-9E58-2545-81A9-E7A2B5686092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46457206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22" y="1224916"/>
            <a:ext cx="10943167" cy="48825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89123" y="6589158"/>
            <a:ext cx="96047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000" smtClean="0">
                <a:solidFill>
                  <a:schemeClr val="tx2"/>
                </a:solidFill>
              </a:defRPr>
            </a:lvl1pPr>
          </a:lstStyle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4172" y="6589158"/>
            <a:ext cx="353417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638641" y="6562854"/>
            <a:ext cx="7740113" cy="1538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855878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27939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87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3818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1757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9696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7635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9557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3514" algn="l" defTabSz="855878" rtl="0" eaLnBrk="1" latinLnBrk="0" hangingPunct="1"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2"/>
                </a:solidFill>
              </a:rPr>
              <a:t>Universität</a:t>
            </a:r>
            <a:r>
              <a:rPr lang="en-US" sz="1000" baseline="0" dirty="0">
                <a:solidFill>
                  <a:schemeClr val="tx2"/>
                </a:solidFill>
              </a:rPr>
              <a:t> </a:t>
            </a:r>
            <a:r>
              <a:rPr lang="en-US" sz="1000" dirty="0">
                <a:solidFill>
                  <a:schemeClr val="tx2"/>
                </a:solidFill>
              </a:rPr>
              <a:t>Stuttgart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8ABCFC8-84BF-F846-A34B-24282AB4615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497" y="68093"/>
            <a:ext cx="1338981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7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/>
  <p:txStyles>
    <p:titleStyle>
      <a:lvl1pPr algn="l" defTabSz="685745" rtl="0" eaLnBrk="1" latinLnBrk="0" hangingPunct="1">
        <a:lnSpc>
          <a:spcPct val="9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36" indent="-171436" algn="l" defTabSz="685745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1pPr>
      <a:lvl2pPr marL="360334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900" kern="1200">
          <a:solidFill>
            <a:schemeClr val="tx2"/>
          </a:solidFill>
          <a:latin typeface="+mn-lt"/>
          <a:ea typeface="+mn-ea"/>
          <a:cs typeface="+mn-cs"/>
        </a:defRPr>
      </a:lvl2pPr>
      <a:lvl3pPr marL="536532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720667" indent="-184135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896866" indent="-176198" algn="l" defTabSz="685745" rtl="0" eaLnBrk="1" latinLnBrk="0" hangingPunct="1">
        <a:lnSpc>
          <a:spcPct val="120000"/>
        </a:lnSpc>
        <a:spcBef>
          <a:spcPts val="374"/>
        </a:spcBef>
        <a:buClr>
          <a:schemeClr val="tx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799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72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44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17" indent="-171436" algn="l" defTabSz="685745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5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0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63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34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08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82" algn="l" defTabSz="68574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>
          <p15:clr>
            <a:srgbClr val="F26B43"/>
          </p15:clr>
        </p15:guide>
        <p15:guide id="2" pos="328">
          <p15:clr>
            <a:srgbClr val="F26B43"/>
          </p15:clr>
        </p15:guide>
        <p15:guide id="3" orient="horz" pos="3206">
          <p15:clr>
            <a:srgbClr val="F26B43"/>
          </p15:clr>
        </p15:guide>
        <p15:guide id="4" pos="60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file:////var/folders/80/pfp4rsvx541_8n4yx7_h0blc0000gn/T/com.microsoft.Powerpoint/converted_emf.em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9.sv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emf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5" Type="http://schemas.openxmlformats.org/officeDocument/2006/relationships/image" Target="../media/image12.emf"/><Relationship Id="rId10" Type="http://schemas.openxmlformats.org/officeDocument/2006/relationships/image" Target="../media/image20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.xml"/><Relationship Id="rId6" Type="http://schemas.openxmlformats.org/officeDocument/2006/relationships/image" Target="../media/image21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Relationship Id="rId6" Type="http://schemas.openxmlformats.org/officeDocument/2006/relationships/image" Target="../media/image24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8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9.xml"/><Relationship Id="rId4" Type="http://schemas.openxmlformats.org/officeDocument/2006/relationships/image" Target="../media/image2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0.xml"/><Relationship Id="rId4" Type="http://schemas.openxmlformats.org/officeDocument/2006/relationships/image" Target="../media/image2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1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7CE146C-5350-CD46-8075-9B88AA4CE1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link="rId2"/>
          <a:srcRect t="34793" b="34793"/>
          <a:stretch>
            <a:fillRect/>
          </a:stretch>
        </p:blipFill>
        <p:spPr/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F023DED4-143D-DE4A-85C1-8AB3A777EA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676FC7E6-6597-CF40-B134-EEE2B8EC7B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Nils Schüler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9FB249E-BA45-A149-A147-3D984CFFF8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Techno-economic analysis of electrified high temperature reactor with conventional processes </a:t>
            </a:r>
          </a:p>
        </p:txBody>
      </p:sp>
      <p:pic>
        <p:nvPicPr>
          <p:cNvPr id="7" name="Bildplatzhalter 8">
            <a:extLst>
              <a:ext uri="{FF2B5EF4-FFF2-40B4-BE49-F238E27FC236}">
                <a16:creationId xmlns:a16="http://schemas.microsoft.com/office/drawing/2014/main" id="{DC1B3D93-E6DC-DA43-A0AB-B62F1ECCA8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015266" y="6246987"/>
            <a:ext cx="851629" cy="4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2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" name="think-cell data - do not delete" hidden="1">
            <a:extLst>
              <a:ext uri="{FF2B5EF4-FFF2-40B4-BE49-F238E27FC236}">
                <a16:creationId xmlns:a16="http://schemas.microsoft.com/office/drawing/2014/main" id="{5625D9BD-209C-4740-2DA8-85907693BDE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894314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53907-A9A0-5F18-8013-48449E5B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B28DE-C729-1B81-8BF0-115130E45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6E7C93-DD8C-8B4A-E19A-994EFB0C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 dirty="0"/>
              <a:t>Electrically heated reaction zone and &gt;500°C heat integration in one reactor</a:t>
            </a:r>
          </a:p>
        </p:txBody>
      </p:sp>
      <p:grpSp>
        <p:nvGrpSpPr>
          <p:cNvPr id="108" name="Gruppieren 167">
            <a:extLst>
              <a:ext uri="{FF2B5EF4-FFF2-40B4-BE49-F238E27FC236}">
                <a16:creationId xmlns:a16="http://schemas.microsoft.com/office/drawing/2014/main" id="{9E305F3D-A3F9-FCD5-B34B-9C80A6A66B07}"/>
              </a:ext>
            </a:extLst>
          </p:cNvPr>
          <p:cNvGrpSpPr/>
          <p:nvPr/>
        </p:nvGrpSpPr>
        <p:grpSpPr>
          <a:xfrm>
            <a:off x="6004418" y="4193688"/>
            <a:ext cx="1956340" cy="2025958"/>
            <a:chOff x="7962900" y="3468293"/>
            <a:chExt cx="1774456" cy="1837601"/>
          </a:xfrm>
        </p:grpSpPr>
        <p:grpSp>
          <p:nvGrpSpPr>
            <p:cNvPr id="109" name="Gruppieren 141">
              <a:extLst>
                <a:ext uri="{FF2B5EF4-FFF2-40B4-BE49-F238E27FC236}">
                  <a16:creationId xmlns:a16="http://schemas.microsoft.com/office/drawing/2014/main" id="{823E2A6B-044D-300E-53D2-63EE7B5A8743}"/>
                </a:ext>
              </a:extLst>
            </p:cNvPr>
            <p:cNvGrpSpPr/>
            <p:nvPr/>
          </p:nvGrpSpPr>
          <p:grpSpPr>
            <a:xfrm>
              <a:off x="7962900" y="3886200"/>
              <a:ext cx="1080000" cy="1080000"/>
              <a:chOff x="8013700" y="3962400"/>
              <a:chExt cx="1080000" cy="1080000"/>
            </a:xfrm>
          </p:grpSpPr>
          <p:sp>
            <p:nvSpPr>
              <p:cNvPr id="118" name="Ellipse 139">
                <a:extLst>
                  <a:ext uri="{FF2B5EF4-FFF2-40B4-BE49-F238E27FC236}">
                    <a16:creationId xmlns:a16="http://schemas.microsoft.com/office/drawing/2014/main" id="{9C244428-DEA1-6670-E41C-32C3C02C03C9}"/>
                  </a:ext>
                </a:extLst>
              </p:cNvPr>
              <p:cNvSpPr/>
              <p:nvPr/>
            </p:nvSpPr>
            <p:spPr>
              <a:xfrm>
                <a:off x="8283700" y="4232400"/>
                <a:ext cx="540000" cy="540000"/>
              </a:xfrm>
              <a:prstGeom prst="ellipse">
                <a:avLst/>
              </a:prstGeom>
              <a:noFill/>
              <a:ln w="762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  <p:sp>
            <p:nvSpPr>
              <p:cNvPr id="119" name="Ellipse 140">
                <a:extLst>
                  <a:ext uri="{FF2B5EF4-FFF2-40B4-BE49-F238E27FC236}">
                    <a16:creationId xmlns:a16="http://schemas.microsoft.com/office/drawing/2014/main" id="{8560D29C-CD1B-9338-7A09-85755E8E35BE}"/>
                  </a:ext>
                </a:extLst>
              </p:cNvPr>
              <p:cNvSpPr/>
              <p:nvPr/>
            </p:nvSpPr>
            <p:spPr>
              <a:xfrm>
                <a:off x="8013700" y="3962400"/>
                <a:ext cx="1080000" cy="1080000"/>
              </a:xfrm>
              <a:prstGeom prst="ellipse">
                <a:avLst/>
              </a:prstGeom>
              <a:noFill/>
              <a:ln w="190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noProof="0"/>
              </a:p>
            </p:txBody>
          </p:sp>
        </p:grpSp>
        <p:cxnSp>
          <p:nvCxnSpPr>
            <p:cNvPr id="110" name="Gerade Verbindung mit Pfeil 143">
              <a:extLst>
                <a:ext uri="{FF2B5EF4-FFF2-40B4-BE49-F238E27FC236}">
                  <a16:creationId xmlns:a16="http://schemas.microsoft.com/office/drawing/2014/main" id="{299BB81F-773A-076E-C0AC-DEE106E9E4A3}"/>
                </a:ext>
              </a:extLst>
            </p:cNvPr>
            <p:cNvCxnSpPr>
              <a:cxnSpLocks/>
            </p:cNvCxnSpPr>
            <p:nvPr/>
          </p:nvCxnSpPr>
          <p:spPr>
            <a:xfrm>
              <a:off x="8266008" y="3746827"/>
              <a:ext cx="46683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r Verbinder 145">
              <a:extLst>
                <a:ext uri="{FF2B5EF4-FFF2-40B4-BE49-F238E27FC236}">
                  <a16:creationId xmlns:a16="http://schemas.microsoft.com/office/drawing/2014/main" id="{FB49D79E-44DE-E53D-1D69-F786E14E14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8961" y="3691768"/>
              <a:ext cx="0" cy="7344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r Verbinder 147">
              <a:extLst>
                <a:ext uri="{FF2B5EF4-FFF2-40B4-BE49-F238E27FC236}">
                  <a16:creationId xmlns:a16="http://schemas.microsoft.com/office/drawing/2014/main" id="{F522775A-DCA5-D077-A7FD-993E028143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5798" y="3691768"/>
              <a:ext cx="0" cy="7344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feld 150">
              <a:extLst>
                <a:ext uri="{FF2B5EF4-FFF2-40B4-BE49-F238E27FC236}">
                  <a16:creationId xmlns:a16="http://schemas.microsoft.com/office/drawing/2014/main" id="{DFC16781-956B-605C-521C-B58FDE91A07D}"/>
                </a:ext>
              </a:extLst>
            </p:cNvPr>
            <p:cNvSpPr txBox="1"/>
            <p:nvPr/>
          </p:nvSpPr>
          <p:spPr>
            <a:xfrm>
              <a:off x="8194068" y="3468293"/>
              <a:ext cx="610716" cy="2347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400" dirty="0">
                  <a:solidFill>
                    <a:schemeClr val="tx2"/>
                  </a:solidFill>
                </a:rPr>
                <a:t>6</a:t>
              </a:r>
              <a:r>
                <a:rPr lang="en-US" sz="1400" noProof="0" dirty="0">
                  <a:solidFill>
                    <a:schemeClr val="tx2"/>
                  </a:solidFill>
                </a:rPr>
                <a:t> mm</a:t>
              </a:r>
            </a:p>
          </p:txBody>
        </p:sp>
        <p:cxnSp>
          <p:nvCxnSpPr>
            <p:cNvPr id="114" name="Gerade Verbindung mit Pfeil 151">
              <a:extLst>
                <a:ext uri="{FF2B5EF4-FFF2-40B4-BE49-F238E27FC236}">
                  <a16:creationId xmlns:a16="http://schemas.microsoft.com/office/drawing/2014/main" id="{E86C24A4-6CF9-D14D-90CF-4D5A17018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99944" y="3886200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r Verbinder 157">
              <a:extLst>
                <a:ext uri="{FF2B5EF4-FFF2-40B4-BE49-F238E27FC236}">
                  <a16:creationId xmlns:a16="http://schemas.microsoft.com/office/drawing/2014/main" id="{4CFEC8FF-4176-DE59-A95B-452296933859}"/>
                </a:ext>
              </a:extLst>
            </p:cNvPr>
            <p:cNvCxnSpPr>
              <a:cxnSpLocks/>
              <a:endCxn id="119" idx="4"/>
            </p:cNvCxnSpPr>
            <p:nvPr/>
          </p:nvCxnSpPr>
          <p:spPr>
            <a:xfrm flipH="1">
              <a:off x="8502900" y="4966200"/>
              <a:ext cx="65653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r Verbinder 160">
              <a:extLst>
                <a:ext uri="{FF2B5EF4-FFF2-40B4-BE49-F238E27FC236}">
                  <a16:creationId xmlns:a16="http://schemas.microsoft.com/office/drawing/2014/main" id="{FF1082FD-83B4-775F-B8F5-98E097E9289A}"/>
                </a:ext>
              </a:extLst>
            </p:cNvPr>
            <p:cNvCxnSpPr>
              <a:cxnSpLocks/>
              <a:endCxn id="119" idx="0"/>
            </p:cNvCxnSpPr>
            <p:nvPr/>
          </p:nvCxnSpPr>
          <p:spPr>
            <a:xfrm flipH="1">
              <a:off x="8502900" y="3886200"/>
              <a:ext cx="65653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feld 164">
              <a:extLst>
                <a:ext uri="{FF2B5EF4-FFF2-40B4-BE49-F238E27FC236}">
                  <a16:creationId xmlns:a16="http://schemas.microsoft.com/office/drawing/2014/main" id="{C6BCEBAD-BFAA-7EB1-79C0-2B02D031DA85}"/>
                </a:ext>
              </a:extLst>
            </p:cNvPr>
            <p:cNvSpPr txBox="1"/>
            <p:nvPr/>
          </p:nvSpPr>
          <p:spPr>
            <a:xfrm>
              <a:off x="9159435" y="4308828"/>
              <a:ext cx="577921" cy="2347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400" dirty="0">
                  <a:solidFill>
                    <a:schemeClr val="tx2"/>
                  </a:solidFill>
                </a:rPr>
                <a:t>2</a:t>
              </a:r>
              <a:r>
                <a:rPr lang="en-US" sz="1400" noProof="0" dirty="0">
                  <a:solidFill>
                    <a:schemeClr val="tx2"/>
                  </a:solidFill>
                </a:rPr>
                <a:t>0 mm</a:t>
              </a:r>
            </a:p>
          </p:txBody>
        </p:sp>
        <p:cxnSp>
          <p:nvCxnSpPr>
            <p:cNvPr id="167" name="Gerade Verbindung mit Pfeil 143">
              <a:extLst>
                <a:ext uri="{FF2B5EF4-FFF2-40B4-BE49-F238E27FC236}">
                  <a16:creationId xmlns:a16="http://schemas.microsoft.com/office/drawing/2014/main" id="{935587C7-509A-7717-862F-BF94A2D293CD}"/>
                </a:ext>
              </a:extLst>
            </p:cNvPr>
            <p:cNvCxnSpPr>
              <a:cxnSpLocks/>
            </p:cNvCxnSpPr>
            <p:nvPr/>
          </p:nvCxnSpPr>
          <p:spPr>
            <a:xfrm>
              <a:off x="8194068" y="5092975"/>
              <a:ext cx="6107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Gerader Verbinder 145">
              <a:extLst>
                <a:ext uri="{FF2B5EF4-FFF2-40B4-BE49-F238E27FC236}">
                  <a16:creationId xmlns:a16="http://schemas.microsoft.com/office/drawing/2014/main" id="{B776ACED-86E8-74FF-BCAD-BC3697CA5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94068" y="4426200"/>
              <a:ext cx="0" cy="7344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r Verbinder 147">
              <a:extLst>
                <a:ext uri="{FF2B5EF4-FFF2-40B4-BE49-F238E27FC236}">
                  <a16:creationId xmlns:a16="http://schemas.microsoft.com/office/drawing/2014/main" id="{B90F89C2-8A0A-4111-ED87-8BA49E4EEE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2307" y="4426200"/>
              <a:ext cx="0" cy="7344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feld 150">
              <a:extLst>
                <a:ext uri="{FF2B5EF4-FFF2-40B4-BE49-F238E27FC236}">
                  <a16:creationId xmlns:a16="http://schemas.microsoft.com/office/drawing/2014/main" id="{9C2A90F1-50D0-016C-400C-2F44C6C10DAB}"/>
                </a:ext>
              </a:extLst>
            </p:cNvPr>
            <p:cNvSpPr txBox="1"/>
            <p:nvPr/>
          </p:nvSpPr>
          <p:spPr>
            <a:xfrm>
              <a:off x="8194068" y="5092975"/>
              <a:ext cx="610716" cy="2129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625"/>
                </a:spcBef>
                <a:buClr>
                  <a:schemeClr val="accent1"/>
                </a:buClr>
              </a:pPr>
              <a:r>
                <a:rPr lang="en-US" sz="1400" noProof="0" dirty="0">
                  <a:solidFill>
                    <a:schemeClr val="tx2"/>
                  </a:solidFill>
                </a:rPr>
                <a:t>8 mm</a:t>
              </a:r>
            </a:p>
          </p:txBody>
        </p:sp>
      </p:grpSp>
      <p:sp>
        <p:nvSpPr>
          <p:cNvPr id="139" name="Rechteck: abgerundete Ecken 177">
            <a:extLst>
              <a:ext uri="{FF2B5EF4-FFF2-40B4-BE49-F238E27FC236}">
                <a16:creationId xmlns:a16="http://schemas.microsoft.com/office/drawing/2014/main" id="{0B440BC9-B3FF-7236-DCC7-58F62B8DB16B}"/>
              </a:ext>
            </a:extLst>
          </p:cNvPr>
          <p:cNvSpPr/>
          <p:nvPr/>
        </p:nvSpPr>
        <p:spPr>
          <a:xfrm>
            <a:off x="4195604" y="3939616"/>
            <a:ext cx="1008808" cy="182019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OCMC</a:t>
            </a:r>
            <a:endParaRPr lang="en-US" sz="1000" baseline="-25000" dirty="0">
              <a:solidFill>
                <a:schemeClr val="tx2"/>
              </a:solidFill>
            </a:endParaRPr>
          </a:p>
        </p:txBody>
      </p:sp>
      <p:cxnSp>
        <p:nvCxnSpPr>
          <p:cNvPr id="140" name="Gerader Verbinder 18">
            <a:extLst>
              <a:ext uri="{FF2B5EF4-FFF2-40B4-BE49-F238E27FC236}">
                <a16:creationId xmlns:a16="http://schemas.microsoft.com/office/drawing/2014/main" id="{18F2D79D-D3C5-6592-007E-8E5712EECD26}"/>
              </a:ext>
            </a:extLst>
          </p:cNvPr>
          <p:cNvCxnSpPr>
            <a:cxnSpLocks/>
            <a:stCxn id="139" idx="2"/>
          </p:cNvCxnSpPr>
          <p:nvPr/>
        </p:nvCxnSpPr>
        <p:spPr>
          <a:xfrm flipH="1">
            <a:off x="4539357" y="4121635"/>
            <a:ext cx="160651" cy="5261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itel 4">
            <a:extLst>
              <a:ext uri="{FF2B5EF4-FFF2-40B4-BE49-F238E27FC236}">
                <a16:creationId xmlns:a16="http://schemas.microsoft.com/office/drawing/2014/main" id="{2D762ECA-E184-D300-C068-11B1DE80230F}"/>
              </a:ext>
            </a:extLst>
          </p:cNvPr>
          <p:cNvSpPr txBox="1">
            <a:spLocks/>
          </p:cNvSpPr>
          <p:nvPr/>
        </p:nvSpPr>
        <p:spPr>
          <a:xfrm>
            <a:off x="624422" y="3757610"/>
            <a:ext cx="2289600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Reactor Concept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B984907-5BE5-21FE-0F6C-5B71DAC11667}"/>
              </a:ext>
            </a:extLst>
          </p:cNvPr>
          <p:cNvGrpSpPr/>
          <p:nvPr/>
        </p:nvGrpSpPr>
        <p:grpSpPr>
          <a:xfrm>
            <a:off x="624425" y="4217529"/>
            <a:ext cx="5300816" cy="2181170"/>
            <a:chOff x="624425" y="4217529"/>
            <a:chExt cx="5300816" cy="2181170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B96A0554-9C43-A626-A884-6B5D8CED46B9}"/>
                </a:ext>
              </a:extLst>
            </p:cNvPr>
            <p:cNvGrpSpPr/>
            <p:nvPr/>
          </p:nvGrpSpPr>
          <p:grpSpPr>
            <a:xfrm rot="16200000">
              <a:off x="2294623" y="2547331"/>
              <a:ext cx="1960420" cy="5300816"/>
              <a:chOff x="3645724" y="1108425"/>
              <a:chExt cx="1960420" cy="5300816"/>
            </a:xfrm>
          </p:grpSpPr>
          <p:sp>
            <p:nvSpPr>
              <p:cNvPr id="80" name="Textfeld 78">
                <a:extLst>
                  <a:ext uri="{FF2B5EF4-FFF2-40B4-BE49-F238E27FC236}">
                    <a16:creationId xmlns:a16="http://schemas.microsoft.com/office/drawing/2014/main" id="{18B224A4-61B8-B8AE-FE70-2CDCD8AA13D8}"/>
                  </a:ext>
                </a:extLst>
              </p:cNvPr>
              <p:cNvSpPr txBox="1"/>
              <p:nvPr/>
            </p:nvSpPr>
            <p:spPr>
              <a:xfrm rot="5400000">
                <a:off x="4699684" y="1520395"/>
                <a:ext cx="426415" cy="39164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CH</a:t>
                </a:r>
                <a:r>
                  <a:rPr kumimoji="0" lang="en-US" sz="1100" b="1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 </a:t>
                </a:r>
                <a:b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</a:t>
                </a:r>
                <a:r>
                  <a:rPr kumimoji="0" lang="en-US" sz="1100" b="1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  <a:r>
                  <a:rPr kumimoji="0" lang="en-US" sz="1100" b="1" i="0" u="none" strike="noStrike" kern="0" cap="none" spc="0" normalizeH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</a:t>
                </a:r>
                <a:endParaRPr lang="en-US" sz="1100" noProof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81" name="Rechteck 81">
                <a:extLst>
                  <a:ext uri="{FF2B5EF4-FFF2-40B4-BE49-F238E27FC236}">
                    <a16:creationId xmlns:a16="http://schemas.microsoft.com/office/drawing/2014/main" id="{8880BCF6-8A9D-9FF7-4BCA-80A3E99D8ECF}"/>
                  </a:ext>
                </a:extLst>
              </p:cNvPr>
              <p:cNvSpPr/>
              <p:nvPr/>
            </p:nvSpPr>
            <p:spPr>
              <a:xfrm rot="16200000">
                <a:off x="4189283" y="1779654"/>
                <a:ext cx="1133902" cy="1699820"/>
              </a:xfrm>
              <a:prstGeom prst="rect">
                <a:avLst/>
              </a:prstGeom>
              <a:noFill/>
              <a:ln w="38100">
                <a:solidFill>
                  <a:srgbClr val="FFC00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noProof="0"/>
              </a:p>
            </p:txBody>
          </p:sp>
          <p:grpSp>
            <p:nvGrpSpPr>
              <p:cNvPr id="82" name="Gruppieren 15">
                <a:extLst>
                  <a:ext uri="{FF2B5EF4-FFF2-40B4-BE49-F238E27FC236}">
                    <a16:creationId xmlns:a16="http://schemas.microsoft.com/office/drawing/2014/main" id="{773B154D-D5AF-C8EE-9BD1-9933136A55E0}"/>
                  </a:ext>
                </a:extLst>
              </p:cNvPr>
              <p:cNvGrpSpPr/>
              <p:nvPr/>
            </p:nvGrpSpPr>
            <p:grpSpPr>
              <a:xfrm>
                <a:off x="3906324" y="3133521"/>
                <a:ext cx="1699820" cy="1826842"/>
                <a:chOff x="3906324" y="3133521"/>
                <a:chExt cx="1699820" cy="1826842"/>
              </a:xfrm>
            </p:grpSpPr>
            <p:sp>
              <p:nvSpPr>
                <p:cNvPr id="83" name="Rechteck 79">
                  <a:extLst>
                    <a:ext uri="{FF2B5EF4-FFF2-40B4-BE49-F238E27FC236}">
                      <a16:creationId xmlns:a16="http://schemas.microsoft.com/office/drawing/2014/main" id="{406ED0D0-9947-1C85-6B75-3097659AD112}"/>
                    </a:ext>
                  </a:extLst>
                </p:cNvPr>
                <p:cNvSpPr/>
                <p:nvPr/>
              </p:nvSpPr>
              <p:spPr>
                <a:xfrm>
                  <a:off x="4004390" y="3228015"/>
                  <a:ext cx="1176799" cy="1543426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noProof="0"/>
                </a:p>
              </p:txBody>
            </p:sp>
            <p:sp>
              <p:nvSpPr>
                <p:cNvPr id="84" name="Rechteck 80">
                  <a:extLst>
                    <a:ext uri="{FF2B5EF4-FFF2-40B4-BE49-F238E27FC236}">
                      <a16:creationId xmlns:a16="http://schemas.microsoft.com/office/drawing/2014/main" id="{E853140B-2022-511F-E50F-B31C8562FF90}"/>
                    </a:ext>
                  </a:extLst>
                </p:cNvPr>
                <p:cNvSpPr/>
                <p:nvPr/>
              </p:nvSpPr>
              <p:spPr>
                <a:xfrm rot="16200000">
                  <a:off x="3984550" y="3181283"/>
                  <a:ext cx="1543367" cy="1699820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noProof="0"/>
                </a:p>
              </p:txBody>
            </p:sp>
            <p:sp>
              <p:nvSpPr>
                <p:cNvPr id="85" name="Textfeld 83">
                  <a:extLst>
                    <a:ext uri="{FF2B5EF4-FFF2-40B4-BE49-F238E27FC236}">
                      <a16:creationId xmlns:a16="http://schemas.microsoft.com/office/drawing/2014/main" id="{0DCD2DC1-6DED-F001-FCCF-292C681458C6}"/>
                    </a:ext>
                  </a:extLst>
                </p:cNvPr>
                <p:cNvSpPr txBox="1"/>
                <p:nvPr/>
              </p:nvSpPr>
              <p:spPr>
                <a:xfrm rot="5400000">
                  <a:off x="4486572" y="3946305"/>
                  <a:ext cx="1826842" cy="2012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855878" eaLnBrk="1" fontAlgn="auto" latinLnBrk="0" hangingPunct="1">
                    <a:lnSpc>
                      <a:spcPct val="120000"/>
                    </a:lnSpc>
                    <a:spcBef>
                      <a:spcPts val="625"/>
                    </a:spcBef>
                    <a:spcAft>
                      <a:spcPts val="0"/>
                    </a:spcAft>
                    <a:buClr>
                      <a:srgbClr val="00BEFF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</a:rPr>
                    <a:t>Heated reaction zone</a:t>
                  </a:r>
                </a:p>
              </p:txBody>
            </p:sp>
          </p:grpSp>
          <p:sp>
            <p:nvSpPr>
              <p:cNvPr id="86" name="Freihandform: Form 84">
                <a:extLst>
                  <a:ext uri="{FF2B5EF4-FFF2-40B4-BE49-F238E27FC236}">
                    <a16:creationId xmlns:a16="http://schemas.microsoft.com/office/drawing/2014/main" id="{C898F866-28CA-AEB7-6090-79C7D456454D}"/>
                  </a:ext>
                </a:extLst>
              </p:cNvPr>
              <p:cNvSpPr/>
              <p:nvPr/>
            </p:nvSpPr>
            <p:spPr>
              <a:xfrm rot="16200000" flipH="1">
                <a:off x="2369417" y="3596803"/>
                <a:ext cx="4414724" cy="1210151"/>
              </a:xfrm>
              <a:custGeom>
                <a:avLst/>
                <a:gdLst>
                  <a:gd name="connsiteX0" fmla="*/ 0 w 10407016"/>
                  <a:gd name="connsiteY0" fmla="*/ 2722882 h 2824482"/>
                  <a:gd name="connsiteX1" fmla="*/ 8999855 w 10407016"/>
                  <a:gd name="connsiteY1" fmla="*/ 2722882 h 2824482"/>
                  <a:gd name="connsiteX2" fmla="*/ 8999855 w 10407016"/>
                  <a:gd name="connsiteY2" fmla="*/ 2824479 h 2824482"/>
                  <a:gd name="connsiteX3" fmla="*/ 8999797 w 10407016"/>
                  <a:gd name="connsiteY3" fmla="*/ 2824479 h 2824482"/>
                  <a:gd name="connsiteX4" fmla="*/ 8999855 w 10407016"/>
                  <a:gd name="connsiteY4" fmla="*/ 2824482 h 2824482"/>
                  <a:gd name="connsiteX5" fmla="*/ 8999855 w 10407016"/>
                  <a:gd name="connsiteY5" fmla="*/ 2824482 h 2824482"/>
                  <a:gd name="connsiteX6" fmla="*/ 0 w 10407016"/>
                  <a:gd name="connsiteY6" fmla="*/ 2824482 h 2824482"/>
                  <a:gd name="connsiteX7" fmla="*/ 0 w 10407016"/>
                  <a:gd name="connsiteY7" fmla="*/ 1 h 2824482"/>
                  <a:gd name="connsiteX8" fmla="*/ 8999855 w 10407016"/>
                  <a:gd name="connsiteY8" fmla="*/ 1 h 2824482"/>
                  <a:gd name="connsiteX9" fmla="*/ 8999855 w 10407016"/>
                  <a:gd name="connsiteY9" fmla="*/ 101601 h 2824482"/>
                  <a:gd name="connsiteX10" fmla="*/ 0 w 10407016"/>
                  <a:gd name="connsiteY10" fmla="*/ 101601 h 2824482"/>
                  <a:gd name="connsiteX11" fmla="*/ 8999856 w 10407016"/>
                  <a:gd name="connsiteY11" fmla="*/ 0 h 2824482"/>
                  <a:gd name="connsiteX12" fmla="*/ 10407016 w 10407016"/>
                  <a:gd name="connsiteY12" fmla="*/ 1412241 h 2824482"/>
                  <a:gd name="connsiteX13" fmla="*/ 8999856 w 10407016"/>
                  <a:gd name="connsiteY13" fmla="*/ 2824482 h 2824482"/>
                  <a:gd name="connsiteX14" fmla="*/ 8999855 w 10407016"/>
                  <a:gd name="connsiteY14" fmla="*/ 2824482 h 2824482"/>
                  <a:gd name="connsiteX15" fmla="*/ 8999855 w 10407016"/>
                  <a:gd name="connsiteY15" fmla="*/ 2824479 h 2824482"/>
                  <a:gd name="connsiteX16" fmla="*/ 8999856 w 10407016"/>
                  <a:gd name="connsiteY16" fmla="*/ 2824479 h 2824482"/>
                  <a:gd name="connsiteX17" fmla="*/ 8999856 w 10407016"/>
                  <a:gd name="connsiteY17" fmla="*/ 2721007 h 2824482"/>
                  <a:gd name="connsiteX18" fmla="*/ 9035416 w 10407016"/>
                  <a:gd name="connsiteY18" fmla="*/ 2722882 h 2824482"/>
                  <a:gd name="connsiteX19" fmla="*/ 10290176 w 10407016"/>
                  <a:gd name="connsiteY19" fmla="*/ 1412241 h 2824482"/>
                  <a:gd name="connsiteX20" fmla="*/ 9035416 w 10407016"/>
                  <a:gd name="connsiteY20" fmla="*/ 101600 h 2824482"/>
                  <a:gd name="connsiteX21" fmla="*/ 8999856 w 10407016"/>
                  <a:gd name="connsiteY21" fmla="*/ 103476 h 2824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407016" h="2824482">
                    <a:moveTo>
                      <a:pt x="0" y="2722882"/>
                    </a:moveTo>
                    <a:lnTo>
                      <a:pt x="8999855" y="2722882"/>
                    </a:lnTo>
                    <a:lnTo>
                      <a:pt x="8999855" y="2824479"/>
                    </a:lnTo>
                    <a:lnTo>
                      <a:pt x="8999797" y="2824479"/>
                    </a:lnTo>
                    <a:lnTo>
                      <a:pt x="8999855" y="2824482"/>
                    </a:lnTo>
                    <a:lnTo>
                      <a:pt x="8999855" y="2824482"/>
                    </a:lnTo>
                    <a:lnTo>
                      <a:pt x="0" y="2824482"/>
                    </a:lnTo>
                    <a:close/>
                    <a:moveTo>
                      <a:pt x="0" y="1"/>
                    </a:moveTo>
                    <a:lnTo>
                      <a:pt x="8999855" y="1"/>
                    </a:lnTo>
                    <a:lnTo>
                      <a:pt x="8999855" y="101601"/>
                    </a:lnTo>
                    <a:lnTo>
                      <a:pt x="0" y="101601"/>
                    </a:lnTo>
                    <a:close/>
                    <a:moveTo>
                      <a:pt x="8999856" y="0"/>
                    </a:moveTo>
                    <a:cubicBezTo>
                      <a:pt x="9777009" y="0"/>
                      <a:pt x="10407016" y="632282"/>
                      <a:pt x="10407016" y="1412241"/>
                    </a:cubicBezTo>
                    <a:cubicBezTo>
                      <a:pt x="10407016" y="2192200"/>
                      <a:pt x="9777009" y="2824482"/>
                      <a:pt x="8999856" y="2824482"/>
                    </a:cubicBezTo>
                    <a:lnTo>
                      <a:pt x="8999855" y="2824482"/>
                    </a:lnTo>
                    <a:lnTo>
                      <a:pt x="8999855" y="2824479"/>
                    </a:lnTo>
                    <a:lnTo>
                      <a:pt x="8999856" y="2824479"/>
                    </a:lnTo>
                    <a:lnTo>
                      <a:pt x="8999856" y="2721007"/>
                    </a:lnTo>
                    <a:lnTo>
                      <a:pt x="9035416" y="2722882"/>
                    </a:lnTo>
                    <a:cubicBezTo>
                      <a:pt x="9728401" y="2722882"/>
                      <a:pt x="10290176" y="2136088"/>
                      <a:pt x="10290176" y="1412241"/>
                    </a:cubicBezTo>
                    <a:cubicBezTo>
                      <a:pt x="10290176" y="688394"/>
                      <a:pt x="9728401" y="101600"/>
                      <a:pt x="9035416" y="101600"/>
                    </a:cubicBezTo>
                    <a:lnTo>
                      <a:pt x="8999856" y="103476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 cmpd="sng" algn="ctr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8558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" name="Pfeil: 180-Grad 88">
                <a:extLst>
                  <a:ext uri="{FF2B5EF4-FFF2-40B4-BE49-F238E27FC236}">
                    <a16:creationId xmlns:a16="http://schemas.microsoft.com/office/drawing/2014/main" id="{D5F3A233-7FD1-D1AB-ABE8-9159194CCE85}"/>
                  </a:ext>
                </a:extLst>
              </p:cNvPr>
              <p:cNvSpPr/>
              <p:nvPr/>
            </p:nvSpPr>
            <p:spPr>
              <a:xfrm rot="10800000" flipH="1">
                <a:off x="4199006" y="5075143"/>
                <a:ext cx="367077" cy="1103663"/>
              </a:xfrm>
              <a:prstGeom prst="uturnArrow">
                <a:avLst>
                  <a:gd name="adj1" fmla="val 14828"/>
                  <a:gd name="adj2" fmla="val 14472"/>
                  <a:gd name="adj3" fmla="val 28241"/>
                  <a:gd name="adj4" fmla="val 46471"/>
                  <a:gd name="adj5" fmla="val 36580"/>
                </a:avLst>
              </a:prstGeom>
              <a:gradFill>
                <a:gsLst>
                  <a:gs pos="44000">
                    <a:srgbClr val="FF7C80"/>
                  </a:gs>
                  <a:gs pos="84000">
                    <a:srgbClr val="FF5050"/>
                  </a:gs>
                  <a:gs pos="99301">
                    <a:srgbClr val="FF0000"/>
                  </a:gs>
                  <a:gs pos="15000">
                    <a:srgbClr val="FF5050"/>
                  </a:gs>
                  <a:gs pos="0">
                    <a:srgbClr val="FF0000"/>
                  </a:gs>
                </a:gsLst>
                <a:lin ang="0" scaled="0"/>
              </a:gradFill>
              <a:ln w="12700" cap="flat" cmpd="sng" algn="ctr">
                <a:solidFill>
                  <a:srgbClr val="00BEFF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8558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sng" strike="noStrike" kern="0" cap="none" spc="0" normalizeH="0" baseline="0" noProof="0">
                  <a:ln>
                    <a:noFill/>
                  </a:ln>
                  <a:solidFill>
                    <a:srgbClr val="3E444C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" name="Pfeil: nach rechts 90">
                <a:extLst>
                  <a:ext uri="{FF2B5EF4-FFF2-40B4-BE49-F238E27FC236}">
                    <a16:creationId xmlns:a16="http://schemas.microsoft.com/office/drawing/2014/main" id="{BFEF6EF0-920B-8822-1BA2-0EC1D5147A4E}"/>
                  </a:ext>
                </a:extLst>
              </p:cNvPr>
              <p:cNvSpPr/>
              <p:nvPr/>
            </p:nvSpPr>
            <p:spPr>
              <a:xfrm rot="5400000">
                <a:off x="3246926" y="2671209"/>
                <a:ext cx="1869679" cy="222788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2"/>
                  </a:gs>
                  <a:gs pos="74000">
                    <a:srgbClr val="FF5050"/>
                  </a:gs>
                  <a:gs pos="83000">
                    <a:srgbClr val="FF3300"/>
                  </a:gs>
                  <a:gs pos="100000">
                    <a:srgbClr val="FF0000"/>
                  </a:gs>
                </a:gsLst>
                <a:lin ang="0" scaled="0"/>
                <a:tileRect/>
              </a:gradFill>
              <a:ln w="12700" cap="flat" cmpd="sng" algn="ctr">
                <a:solidFill>
                  <a:srgbClr val="00BEFF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8558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9" name="Pfeil: nach rechts 91">
                <a:extLst>
                  <a:ext uri="{FF2B5EF4-FFF2-40B4-BE49-F238E27FC236}">
                    <a16:creationId xmlns:a16="http://schemas.microsoft.com/office/drawing/2014/main" id="{FD84A315-6E8A-1193-BB07-0B63A5F6C432}"/>
                  </a:ext>
                </a:extLst>
              </p:cNvPr>
              <p:cNvSpPr/>
              <p:nvPr/>
            </p:nvSpPr>
            <p:spPr>
              <a:xfrm rot="5400000">
                <a:off x="3955968" y="2665245"/>
                <a:ext cx="1913041" cy="222788"/>
              </a:xfrm>
              <a:prstGeom prst="rightArrow">
                <a:avLst/>
              </a:prstGeom>
              <a:gradFill flip="none" rotWithShape="1">
                <a:gsLst>
                  <a:gs pos="0">
                    <a:schemeClr val="accent2"/>
                  </a:gs>
                  <a:gs pos="74000">
                    <a:srgbClr val="FF5050"/>
                  </a:gs>
                  <a:gs pos="83000">
                    <a:srgbClr val="FF3300"/>
                  </a:gs>
                  <a:gs pos="100000">
                    <a:srgbClr val="FF0000"/>
                  </a:gs>
                </a:gsLst>
                <a:lin ang="0" scaled="0"/>
                <a:tileRect/>
              </a:gradFill>
              <a:ln w="12700" cap="flat" cmpd="sng" algn="ctr">
                <a:solidFill>
                  <a:srgbClr val="00BEFF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8558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0" name="Pfeil: nach rechts 92">
                <a:extLst>
                  <a:ext uri="{FF2B5EF4-FFF2-40B4-BE49-F238E27FC236}">
                    <a16:creationId xmlns:a16="http://schemas.microsoft.com/office/drawing/2014/main" id="{3A8311D7-C322-AC27-07DD-355FE5DC64EC}"/>
                  </a:ext>
                </a:extLst>
              </p:cNvPr>
              <p:cNvSpPr/>
              <p:nvPr/>
            </p:nvSpPr>
            <p:spPr>
              <a:xfrm rot="16200000">
                <a:off x="3404664" y="2398868"/>
                <a:ext cx="2335829" cy="211141"/>
              </a:xfrm>
              <a:prstGeom prst="rightArrow">
                <a:avLst/>
              </a:prstGeom>
              <a:gradFill flip="none" rotWithShape="1">
                <a:gsLst>
                  <a:gs pos="100000">
                    <a:schemeClr val="accent2"/>
                  </a:gs>
                  <a:gs pos="33000">
                    <a:srgbClr val="FF5050"/>
                  </a:gs>
                  <a:gs pos="17000">
                    <a:srgbClr val="FF3300"/>
                  </a:gs>
                  <a:gs pos="0">
                    <a:srgbClr val="FF0000"/>
                  </a:gs>
                </a:gsLst>
                <a:lin ang="0" scaled="0"/>
                <a:tileRect/>
              </a:gradFill>
              <a:ln w="12700" cap="flat" cmpd="sng" algn="ctr">
                <a:solidFill>
                  <a:srgbClr val="00BEFF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8558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1" name="Textfeld 93">
                <a:extLst>
                  <a:ext uri="{FF2B5EF4-FFF2-40B4-BE49-F238E27FC236}">
                    <a16:creationId xmlns:a16="http://schemas.microsoft.com/office/drawing/2014/main" id="{CA3DAE7A-803F-3188-C0D0-98879C5B82B4}"/>
                  </a:ext>
                </a:extLst>
              </p:cNvPr>
              <p:cNvSpPr txBox="1"/>
              <p:nvPr/>
            </p:nvSpPr>
            <p:spPr>
              <a:xfrm rot="5400000">
                <a:off x="4938408" y="2528926"/>
                <a:ext cx="955390" cy="2012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855878" eaLnBrk="1" fontAlgn="auto" latinLnBrk="0" hangingPunct="1">
                  <a:lnSpc>
                    <a:spcPct val="120000"/>
                  </a:lnSpc>
                  <a:spcBef>
                    <a:spcPts val="625"/>
                  </a:spcBef>
                  <a:spcAft>
                    <a:spcPts val="0"/>
                  </a:spcAft>
                  <a:buClr>
                    <a:srgbClr val="00BEFF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</a:rPr>
                  <a:t>Heat recovery</a:t>
                </a:r>
              </a:p>
            </p:txBody>
          </p:sp>
          <p:sp>
            <p:nvSpPr>
              <p:cNvPr id="92" name="Textfeld 99">
                <a:extLst>
                  <a:ext uri="{FF2B5EF4-FFF2-40B4-BE49-F238E27FC236}">
                    <a16:creationId xmlns:a16="http://schemas.microsoft.com/office/drawing/2014/main" id="{366551DE-D449-8DC9-5020-897232023D58}"/>
                  </a:ext>
                </a:extLst>
              </p:cNvPr>
              <p:cNvSpPr txBox="1"/>
              <p:nvPr/>
            </p:nvSpPr>
            <p:spPr>
              <a:xfrm rot="5400000">
                <a:off x="4372650" y="1119082"/>
                <a:ext cx="412959" cy="3916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H</a:t>
                </a:r>
                <a:r>
                  <a:rPr kumimoji="0" lang="en-US" sz="1100" b="1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 </a:t>
                </a:r>
                <a:b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</a:t>
                </a:r>
                <a:endParaRPr lang="en-US" sz="1100" noProof="0" dirty="0">
                  <a:solidFill>
                    <a:schemeClr val="tx2"/>
                  </a:solidFill>
                </a:endParaRPr>
              </a:p>
            </p:txBody>
          </p:sp>
          <p:sp>
            <p:nvSpPr>
              <p:cNvPr id="93" name="Pfeil: 180-Grad 89">
                <a:extLst>
                  <a:ext uri="{FF2B5EF4-FFF2-40B4-BE49-F238E27FC236}">
                    <a16:creationId xmlns:a16="http://schemas.microsoft.com/office/drawing/2014/main" id="{463BA5C6-88AC-5C60-840E-0F7A80CBA982}"/>
                  </a:ext>
                </a:extLst>
              </p:cNvPr>
              <p:cNvSpPr/>
              <p:nvPr/>
            </p:nvSpPr>
            <p:spPr>
              <a:xfrm flipH="1" flipV="1">
                <a:off x="4573137" y="5075143"/>
                <a:ext cx="367077" cy="1103663"/>
              </a:xfrm>
              <a:prstGeom prst="uturnArrow">
                <a:avLst>
                  <a:gd name="adj1" fmla="val 14828"/>
                  <a:gd name="adj2" fmla="val 14472"/>
                  <a:gd name="adj3" fmla="val 28241"/>
                  <a:gd name="adj4" fmla="val 46471"/>
                  <a:gd name="adj5" fmla="val 36580"/>
                </a:avLst>
              </a:prstGeom>
              <a:gradFill>
                <a:gsLst>
                  <a:gs pos="44000">
                    <a:srgbClr val="FF7C80"/>
                  </a:gs>
                  <a:gs pos="84000">
                    <a:srgbClr val="FF5050"/>
                  </a:gs>
                  <a:gs pos="99301">
                    <a:srgbClr val="FF0000"/>
                  </a:gs>
                  <a:gs pos="15000">
                    <a:srgbClr val="FF5050"/>
                  </a:gs>
                  <a:gs pos="0">
                    <a:srgbClr val="FF0000"/>
                  </a:gs>
                </a:gsLst>
                <a:lin ang="0" scaled="0"/>
              </a:gradFill>
              <a:ln w="12700" cap="flat" cmpd="sng" algn="ctr">
                <a:solidFill>
                  <a:srgbClr val="00BEFF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85587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sng" strike="noStrike" kern="0" cap="none" spc="0" normalizeH="0" baseline="0" noProof="0">
                  <a:ln>
                    <a:noFill/>
                  </a:ln>
                  <a:solidFill>
                    <a:srgbClr val="3E444C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94" name="Gruppieren 14">
                <a:extLst>
                  <a:ext uri="{FF2B5EF4-FFF2-40B4-BE49-F238E27FC236}">
                    <a16:creationId xmlns:a16="http://schemas.microsoft.com/office/drawing/2014/main" id="{F43BFC0D-68DD-C066-88BB-667EE3871F70}"/>
                  </a:ext>
                </a:extLst>
              </p:cNvPr>
              <p:cNvGrpSpPr/>
              <p:nvPr/>
            </p:nvGrpSpPr>
            <p:grpSpPr>
              <a:xfrm>
                <a:off x="3983582" y="2051780"/>
                <a:ext cx="1184593" cy="4262735"/>
                <a:chOff x="3983582" y="2051780"/>
                <a:chExt cx="1184593" cy="4262735"/>
              </a:xfrm>
            </p:grpSpPr>
            <p:sp>
              <p:nvSpPr>
                <p:cNvPr id="95" name="Rechteck 82">
                  <a:extLst>
                    <a:ext uri="{FF2B5EF4-FFF2-40B4-BE49-F238E27FC236}">
                      <a16:creationId xmlns:a16="http://schemas.microsoft.com/office/drawing/2014/main" id="{5A69D659-1E34-AA99-75F5-B1E4D1F16119}"/>
                    </a:ext>
                  </a:extLst>
                </p:cNvPr>
                <p:cNvSpPr/>
                <p:nvPr/>
              </p:nvSpPr>
              <p:spPr>
                <a:xfrm rot="16200000">
                  <a:off x="2798985" y="3933732"/>
                  <a:ext cx="3827277" cy="63374"/>
                </a:xfrm>
                <a:prstGeom prst="rect">
                  <a:avLst/>
                </a:prstGeom>
                <a:pattFill prst="wdDnDiag">
                  <a:fgClr>
                    <a:srgbClr val="3E444C"/>
                  </a:fgClr>
                  <a:bgClr>
                    <a:sysClr val="window" lastClr="FFFFFF"/>
                  </a:bgClr>
                </a:pattFill>
                <a:ln w="1270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855878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chteck 85">
                  <a:extLst>
                    <a:ext uri="{FF2B5EF4-FFF2-40B4-BE49-F238E27FC236}">
                      <a16:creationId xmlns:a16="http://schemas.microsoft.com/office/drawing/2014/main" id="{85DC4227-74F7-0F44-DCB7-88C48CC3535B}"/>
                    </a:ext>
                  </a:extLst>
                </p:cNvPr>
                <p:cNvSpPr/>
                <p:nvPr/>
              </p:nvSpPr>
              <p:spPr>
                <a:xfrm rot="16200000">
                  <a:off x="2504847" y="3931684"/>
                  <a:ext cx="3830770" cy="70963"/>
                </a:xfrm>
                <a:prstGeom prst="rect">
                  <a:avLst/>
                </a:prstGeom>
                <a:pattFill prst="wdDnDiag">
                  <a:fgClr>
                    <a:srgbClr val="3E444C"/>
                  </a:fgClr>
                  <a:bgClr>
                    <a:sysClr val="window" lastClr="FFFFFF"/>
                  </a:bgClr>
                </a:pattFill>
                <a:ln w="1270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855878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" name="Gerader Verbinder 86">
                  <a:extLst>
                    <a:ext uri="{FF2B5EF4-FFF2-40B4-BE49-F238E27FC236}">
                      <a16:creationId xmlns:a16="http://schemas.microsoft.com/office/drawing/2014/main" id="{DFDF6345-C2A6-916B-27B9-324F3A0D4971}"/>
                    </a:ext>
                  </a:extLst>
                </p:cNvPr>
                <p:cNvCxnSpPr>
                  <a:cxnSpLocks/>
                  <a:stCxn id="96" idx="1"/>
                  <a:endCxn id="95" idx="1"/>
                </p:cNvCxnSpPr>
                <p:nvPr/>
              </p:nvCxnSpPr>
              <p:spPr>
                <a:xfrm rot="16200000">
                  <a:off x="4564682" y="5734609"/>
                  <a:ext cx="3493" cy="292392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8" name="Gerader Verbinder 87">
                  <a:extLst>
                    <a:ext uri="{FF2B5EF4-FFF2-40B4-BE49-F238E27FC236}">
                      <a16:creationId xmlns:a16="http://schemas.microsoft.com/office/drawing/2014/main" id="{A7E95BEA-7F01-0A58-C7AE-B49F5C54BCA2}"/>
                    </a:ext>
                  </a:extLst>
                </p:cNvPr>
                <p:cNvCxnSpPr>
                  <a:cxnSpLocks/>
                  <a:stCxn id="96" idx="3"/>
                  <a:endCxn id="95" idx="3"/>
                </p:cNvCxnSpPr>
                <p:nvPr/>
              </p:nvCxnSpPr>
              <p:spPr>
                <a:xfrm rot="16200000">
                  <a:off x="4566428" y="1905585"/>
                  <a:ext cx="0" cy="292392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0000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99" name="Gerade Verbindung 10">
                  <a:extLst>
                    <a:ext uri="{FF2B5EF4-FFF2-40B4-BE49-F238E27FC236}">
                      <a16:creationId xmlns:a16="http://schemas.microsoft.com/office/drawing/2014/main" id="{E28E5525-6A3F-140D-87F8-9C01456087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506357" y="4747331"/>
                  <a:ext cx="2975644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0" name="Gerade Verbindung 11">
                  <a:extLst>
                    <a:ext uri="{FF2B5EF4-FFF2-40B4-BE49-F238E27FC236}">
                      <a16:creationId xmlns:a16="http://schemas.microsoft.com/office/drawing/2014/main" id="{6B489B0A-560E-F2DA-F5E1-CF0B2F9084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3670828" y="4747332"/>
                  <a:ext cx="2975646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3" name="Gerade Verbindung 10">
                  <a:extLst>
                    <a:ext uri="{FF2B5EF4-FFF2-40B4-BE49-F238E27FC236}">
                      <a16:creationId xmlns:a16="http://schemas.microsoft.com/office/drawing/2014/main" id="{1224FF27-FE03-948A-B553-4DE173A943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254620" y="5964106"/>
                  <a:ext cx="0" cy="542075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4" name="Gerade Verbindung 10">
                  <a:extLst>
                    <a:ext uri="{FF2B5EF4-FFF2-40B4-BE49-F238E27FC236}">
                      <a16:creationId xmlns:a16="http://schemas.microsoft.com/office/drawing/2014/main" id="{C3E4F5D3-C5A9-9B47-3888-92B1B76600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901589" y="5968566"/>
                  <a:ext cx="0" cy="533172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5" name="Gerade Verbindung 10">
                  <a:extLst>
                    <a:ext uri="{FF2B5EF4-FFF2-40B4-BE49-F238E27FC236}">
                      <a16:creationId xmlns:a16="http://schemas.microsoft.com/office/drawing/2014/main" id="{42379AC4-A628-3391-A331-F96509D0CC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7412" y="6153361"/>
                  <a:ext cx="0" cy="161154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06" name="Gerade Verbindung 10">
                  <a:extLst>
                    <a:ext uri="{FF2B5EF4-FFF2-40B4-BE49-F238E27FC236}">
                      <a16:creationId xmlns:a16="http://schemas.microsoft.com/office/drawing/2014/main" id="{B15EF90F-D60A-2BB1-F7B2-4A1A6130BB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25478" y="6184859"/>
                  <a:ext cx="0" cy="101826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Pfeil: nach rechts 98">
                    <a:extLst>
                      <a:ext uri="{FF2B5EF4-FFF2-40B4-BE49-F238E27FC236}">
                        <a16:creationId xmlns:a16="http://schemas.microsoft.com/office/drawing/2014/main" id="{8BCD9177-CDA4-70DD-F58C-A8B5A8D252E4}"/>
                      </a:ext>
                    </a:extLst>
                  </p:cNvPr>
                  <p:cNvSpPr/>
                  <p:nvPr/>
                </p:nvSpPr>
                <p:spPr>
                  <a:xfrm>
                    <a:off x="4592790" y="2472080"/>
                    <a:ext cx="326889" cy="356572"/>
                  </a:xfrm>
                  <a:prstGeom prst="rightArrow">
                    <a:avLst>
                      <a:gd name="adj1" fmla="val 53810"/>
                      <a:gd name="adj2" fmla="val 50853"/>
                    </a:avLst>
                  </a:prstGeom>
                  <a:solidFill>
                    <a:srgbClr val="FFC000"/>
                  </a:solidFill>
                  <a:ln w="6350"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vert" tIns="46800" bIns="0" rtlCol="0" anchor="ctr" anchorCtr="1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sz="100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000" b="0" i="1" noProof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000" b="0" i="1" noProof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oMath>
                      </m:oMathPara>
                    </a14:m>
                    <a:endParaRPr lang="en-US" sz="1000" noProof="0" dirty="0">
                      <a:solidFill>
                        <a:srgbClr val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4" name="Pfeil: nach rechts 98">
                    <a:extLst>
                      <a:ext uri="{FF2B5EF4-FFF2-40B4-BE49-F238E27FC236}">
                        <a16:creationId xmlns:a16="http://schemas.microsoft.com/office/drawing/2014/main" id="{8BCD9177-CDA4-70DD-F58C-A8B5A8D252E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790" y="2472080"/>
                    <a:ext cx="326889" cy="356572"/>
                  </a:xfrm>
                  <a:prstGeom prst="rightArrow">
                    <a:avLst>
                      <a:gd name="adj1" fmla="val 53810"/>
                      <a:gd name="adj2" fmla="val 50853"/>
                    </a:avLst>
                  </a:prstGeom>
                  <a:blipFill>
                    <a:blip r:embed="rId5"/>
                    <a:stretch>
                      <a:fillRect b="-3571"/>
                    </a:stretch>
                  </a:blipFill>
                  <a:ln w="6350">
                    <a:solidFill>
                      <a:schemeClr val="tx2"/>
                    </a:solidFill>
                  </a:ln>
                </p:spPr>
                <p:txBody>
                  <a:bodyPr/>
                  <a:lstStyle/>
                  <a:p>
                    <a:r>
                      <a:rPr lang="en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0" name="Textfeld 93">
                <a:extLst>
                  <a:ext uri="{FF2B5EF4-FFF2-40B4-BE49-F238E27FC236}">
                    <a16:creationId xmlns:a16="http://schemas.microsoft.com/office/drawing/2014/main" id="{390A70C6-BFA2-0086-B16E-C1AF492D0ECE}"/>
                  </a:ext>
                </a:extLst>
              </p:cNvPr>
              <p:cNvSpPr txBox="1"/>
              <p:nvPr/>
            </p:nvSpPr>
            <p:spPr>
              <a:xfrm rot="5400000">
                <a:off x="3205315" y="2528958"/>
                <a:ext cx="1082027" cy="2012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855878" eaLnBrk="1" fontAlgn="auto" latinLnBrk="0" hangingPunct="1">
                  <a:lnSpc>
                    <a:spcPct val="120000"/>
                  </a:lnSpc>
                  <a:spcBef>
                    <a:spcPts val="625"/>
                  </a:spcBef>
                  <a:spcAft>
                    <a:spcPts val="0"/>
                  </a:spcAft>
                  <a:buClr>
                    <a:srgbClr val="00BEFF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</a:rPr>
                  <a:t>Heat exchanger</a:t>
                </a:r>
              </a:p>
            </p:txBody>
          </p:sp>
        </p:grpSp>
        <p:sp>
          <p:nvSpPr>
            <p:cNvPr id="144" name="Pfeil: nach unten 7">
              <a:extLst>
                <a:ext uri="{FF2B5EF4-FFF2-40B4-BE49-F238E27FC236}">
                  <a16:creationId xmlns:a16="http://schemas.microsoft.com/office/drawing/2014/main" id="{EEDD8F52-4A1A-4879-6A15-8577714050E4}"/>
                </a:ext>
              </a:extLst>
            </p:cNvPr>
            <p:cNvSpPr/>
            <p:nvPr/>
          </p:nvSpPr>
          <p:spPr>
            <a:xfrm rot="10800000">
              <a:off x="3275084" y="5765167"/>
              <a:ext cx="513450" cy="546601"/>
            </a:xfrm>
            <a:prstGeom prst="downArrow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noProof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feld 138">
                  <a:extLst>
                    <a:ext uri="{FF2B5EF4-FFF2-40B4-BE49-F238E27FC236}">
                      <a16:creationId xmlns:a16="http://schemas.microsoft.com/office/drawing/2014/main" id="{90DAB42C-7FB0-2861-A14E-83A7351BBD97}"/>
                    </a:ext>
                  </a:extLst>
                </p:cNvPr>
                <p:cNvSpPr txBox="1"/>
                <p:nvPr/>
              </p:nvSpPr>
              <p:spPr>
                <a:xfrm>
                  <a:off x="2919581" y="5961335"/>
                  <a:ext cx="593573" cy="4373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20000"/>
                    </a:lnSpc>
                    <a:spcBef>
                      <a:spcPts val="625"/>
                    </a:spcBef>
                    <a:buClr>
                      <a:schemeClr val="accent1"/>
                    </a:buCl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noProof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sz="1800" i="1" noProof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0" i="1" noProof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b="0" i="1" noProof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𝑒𝑙</m:t>
                            </m:r>
                          </m:sub>
                        </m:sSub>
                      </m:oMath>
                    </m:oMathPara>
                  </a14:m>
                  <a:endParaRPr lang="en-US" sz="1800" noProof="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Textfeld 138">
                  <a:extLst>
                    <a:ext uri="{FF2B5EF4-FFF2-40B4-BE49-F238E27FC236}">
                      <a16:creationId xmlns:a16="http://schemas.microsoft.com/office/drawing/2014/main" id="{90DAB42C-7FB0-2861-A14E-83A7351BB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9581" y="5961335"/>
                  <a:ext cx="593573" cy="4373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3" name="Grafik 1" descr="Blitz mit einfarbiger Füllung">
              <a:extLst>
                <a:ext uri="{FF2B5EF4-FFF2-40B4-BE49-F238E27FC236}">
                  <a16:creationId xmlns:a16="http://schemas.microsoft.com/office/drawing/2014/main" id="{238A07EC-F00A-0BD4-2DC4-83F677F04B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17212" y="6023284"/>
              <a:ext cx="234697" cy="237582"/>
            </a:xfrm>
            <a:prstGeom prst="rect">
              <a:avLst/>
            </a:prstGeom>
          </p:spPr>
        </p:pic>
      </p:grpSp>
      <p:pic>
        <p:nvPicPr>
          <p:cNvPr id="212" name="Grafik 3" descr="Ein Bild, das Stift, Schreibwaren, Design enthält.&#10;&#10;Automatisch generierte Beschreibung">
            <a:extLst>
              <a:ext uri="{FF2B5EF4-FFF2-40B4-BE49-F238E27FC236}">
                <a16:creationId xmlns:a16="http://schemas.microsoft.com/office/drawing/2014/main" id="{1DDDB7BC-F70E-ADD6-EE75-9D226ECCA9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4315367" y="488581"/>
            <a:ext cx="2419700" cy="4175053"/>
          </a:xfrm>
          <a:prstGeom prst="rect">
            <a:avLst/>
          </a:prstGeom>
        </p:spPr>
      </p:pic>
      <p:sp>
        <p:nvSpPr>
          <p:cNvPr id="213" name="Titel 4">
            <a:extLst>
              <a:ext uri="{FF2B5EF4-FFF2-40B4-BE49-F238E27FC236}">
                <a16:creationId xmlns:a16="http://schemas.microsoft.com/office/drawing/2014/main" id="{8DD3E51A-CBE5-CAEB-CE64-D2122FD4C8EA}"/>
              </a:ext>
            </a:extLst>
          </p:cNvPr>
          <p:cNvSpPr txBox="1">
            <a:spLocks/>
          </p:cNvSpPr>
          <p:nvPr/>
        </p:nvSpPr>
        <p:spPr>
          <a:xfrm>
            <a:off x="624422" y="1278874"/>
            <a:ext cx="3571182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OCMC multilayer structure 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EE580EA-7FF6-FF8E-E676-415217B27D84}"/>
              </a:ext>
            </a:extLst>
          </p:cNvPr>
          <p:cNvSpPr txBox="1"/>
          <p:nvPr/>
        </p:nvSpPr>
        <p:spPr>
          <a:xfrm>
            <a:off x="624421" y="1612536"/>
            <a:ext cx="3027487" cy="1899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Gas-tight inner tube from Al</a:t>
            </a:r>
            <a:r>
              <a:rPr lang="en-GB" sz="1600" baseline="-25000" dirty="0"/>
              <a:t>2</a:t>
            </a:r>
            <a:r>
              <a:rPr lang="en-GB" sz="1600" dirty="0"/>
              <a:t>O</a:t>
            </a:r>
            <a:r>
              <a:rPr lang="en-GB" sz="1600" baseline="-25000" dirty="0"/>
              <a:t>3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Metallic heating element made of </a:t>
            </a:r>
            <a:r>
              <a:rPr lang="en-GB" sz="1600" dirty="0" err="1"/>
              <a:t>Aluchrom</a:t>
            </a:r>
            <a:r>
              <a:rPr lang="en-GB" sz="1600" dirty="0"/>
              <a:t> Y Hf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Oxide ceramic matrix composite (OCMC) for mechanical reinforcement</a:t>
            </a:r>
          </a:p>
        </p:txBody>
      </p:sp>
      <p:sp>
        <p:nvSpPr>
          <p:cNvPr id="226" name="Rechteck: abgerundete Ecken 177">
            <a:extLst>
              <a:ext uri="{FF2B5EF4-FFF2-40B4-BE49-F238E27FC236}">
                <a16:creationId xmlns:a16="http://schemas.microsoft.com/office/drawing/2014/main" id="{52CA1699-83A8-3910-FF55-E3E35AFDB645}"/>
              </a:ext>
            </a:extLst>
          </p:cNvPr>
          <p:cNvSpPr/>
          <p:nvPr/>
        </p:nvSpPr>
        <p:spPr>
          <a:xfrm>
            <a:off x="4534184" y="4180497"/>
            <a:ext cx="1745428" cy="341303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Standard monolithic ceramic inner tube</a:t>
            </a:r>
            <a:endParaRPr lang="en-US" sz="1000" baseline="-25000" dirty="0">
              <a:solidFill>
                <a:schemeClr val="tx2"/>
              </a:solidFill>
            </a:endParaRPr>
          </a:p>
        </p:txBody>
      </p:sp>
      <p:cxnSp>
        <p:nvCxnSpPr>
          <p:cNvPr id="227" name="Gerader Verbinder 18">
            <a:extLst>
              <a:ext uri="{FF2B5EF4-FFF2-40B4-BE49-F238E27FC236}">
                <a16:creationId xmlns:a16="http://schemas.microsoft.com/office/drawing/2014/main" id="{DD1C6CF8-7992-7CF1-A72E-9C112C56B7FB}"/>
              </a:ext>
            </a:extLst>
          </p:cNvPr>
          <p:cNvCxnSpPr>
            <a:cxnSpLocks/>
            <a:stCxn id="226" idx="2"/>
          </p:cNvCxnSpPr>
          <p:nvPr/>
        </p:nvCxnSpPr>
        <p:spPr>
          <a:xfrm flipH="1">
            <a:off x="4653368" y="4521800"/>
            <a:ext cx="753530" cy="5727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8641421C-360D-5BAA-B98E-DCB59738669D}"/>
              </a:ext>
            </a:extLst>
          </p:cNvPr>
          <p:cNvCxnSpPr>
            <a:cxnSpLocks/>
          </p:cNvCxnSpPr>
          <p:nvPr/>
        </p:nvCxnSpPr>
        <p:spPr>
          <a:xfrm>
            <a:off x="7919866" y="1707306"/>
            <a:ext cx="0" cy="46044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itel 4">
            <a:extLst>
              <a:ext uri="{FF2B5EF4-FFF2-40B4-BE49-F238E27FC236}">
                <a16:creationId xmlns:a16="http://schemas.microsoft.com/office/drawing/2014/main" id="{253D0470-5C84-2EF5-6A91-01846473BB33}"/>
              </a:ext>
            </a:extLst>
          </p:cNvPr>
          <p:cNvSpPr txBox="1">
            <a:spLocks/>
          </p:cNvSpPr>
          <p:nvPr/>
        </p:nvSpPr>
        <p:spPr>
          <a:xfrm>
            <a:off x="8224856" y="1278874"/>
            <a:ext cx="2103342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Upscaled bundle 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97F891E5-1B37-E852-4331-56F199A07BF1}"/>
              </a:ext>
            </a:extLst>
          </p:cNvPr>
          <p:cNvCxnSpPr>
            <a:cxnSpLocks/>
          </p:cNvCxnSpPr>
          <p:nvPr/>
        </p:nvCxnSpPr>
        <p:spPr>
          <a:xfrm>
            <a:off x="9956119" y="3700728"/>
            <a:ext cx="16163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F41C95B3-3419-BA4B-A9FB-7F4C65EA6F6F}"/>
              </a:ext>
            </a:extLst>
          </p:cNvPr>
          <p:cNvCxnSpPr>
            <a:cxnSpLocks/>
          </p:cNvCxnSpPr>
          <p:nvPr/>
        </p:nvCxnSpPr>
        <p:spPr>
          <a:xfrm>
            <a:off x="9956119" y="4364296"/>
            <a:ext cx="16163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CF316C49-55A7-328A-BFB6-F9CD1B60B724}"/>
              </a:ext>
            </a:extLst>
          </p:cNvPr>
          <p:cNvCxnSpPr>
            <a:cxnSpLocks/>
          </p:cNvCxnSpPr>
          <p:nvPr/>
        </p:nvCxnSpPr>
        <p:spPr>
          <a:xfrm>
            <a:off x="9956118" y="4530188"/>
            <a:ext cx="1616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C050F965-E925-32C8-09FA-C61CEAC48ECC}"/>
              </a:ext>
            </a:extLst>
          </p:cNvPr>
          <p:cNvCxnSpPr>
            <a:cxnSpLocks/>
          </p:cNvCxnSpPr>
          <p:nvPr/>
        </p:nvCxnSpPr>
        <p:spPr>
          <a:xfrm>
            <a:off x="9956119" y="3534836"/>
            <a:ext cx="16163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D7B5B2B4-E52F-C272-2635-C09BE61830A6}"/>
              </a:ext>
            </a:extLst>
          </p:cNvPr>
          <p:cNvCxnSpPr>
            <a:cxnSpLocks/>
          </p:cNvCxnSpPr>
          <p:nvPr/>
        </p:nvCxnSpPr>
        <p:spPr>
          <a:xfrm>
            <a:off x="9956119" y="2871268"/>
            <a:ext cx="16163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17CC75B0-5E33-992D-5BC3-2BFBC49866A8}"/>
              </a:ext>
            </a:extLst>
          </p:cNvPr>
          <p:cNvCxnSpPr>
            <a:cxnSpLocks/>
          </p:cNvCxnSpPr>
          <p:nvPr/>
        </p:nvCxnSpPr>
        <p:spPr>
          <a:xfrm>
            <a:off x="9956119" y="2705376"/>
            <a:ext cx="161639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05722FC4-0ACB-E120-500D-86E17C76CDA8}"/>
              </a:ext>
            </a:extLst>
          </p:cNvPr>
          <p:cNvCxnSpPr>
            <a:cxnSpLocks/>
          </p:cNvCxnSpPr>
          <p:nvPr/>
        </p:nvCxnSpPr>
        <p:spPr>
          <a:xfrm>
            <a:off x="8145017" y="3368944"/>
            <a:ext cx="32837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9995CC05-4B1F-BCD9-6783-1E43D3BCCD77}"/>
              </a:ext>
            </a:extLst>
          </p:cNvPr>
          <p:cNvCxnSpPr>
            <a:cxnSpLocks/>
          </p:cNvCxnSpPr>
          <p:nvPr/>
        </p:nvCxnSpPr>
        <p:spPr>
          <a:xfrm>
            <a:off x="8002316" y="3700728"/>
            <a:ext cx="1615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8AFFB946-7BC5-D2F7-910C-39282FB02A51}"/>
              </a:ext>
            </a:extLst>
          </p:cNvPr>
          <p:cNvCxnSpPr>
            <a:cxnSpLocks/>
          </p:cNvCxnSpPr>
          <p:nvPr/>
        </p:nvCxnSpPr>
        <p:spPr>
          <a:xfrm>
            <a:off x="8145017" y="3866620"/>
            <a:ext cx="32837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BA10AE5-2645-EF3D-AB0E-A3BF8E39BE8C}"/>
              </a:ext>
            </a:extLst>
          </p:cNvPr>
          <p:cNvCxnSpPr>
            <a:cxnSpLocks/>
          </p:cNvCxnSpPr>
          <p:nvPr/>
        </p:nvCxnSpPr>
        <p:spPr>
          <a:xfrm>
            <a:off x="8145017" y="4198404"/>
            <a:ext cx="32837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6EAB9E68-6923-1AB3-56B6-529944D52BD2}"/>
              </a:ext>
            </a:extLst>
          </p:cNvPr>
          <p:cNvCxnSpPr>
            <a:cxnSpLocks/>
          </p:cNvCxnSpPr>
          <p:nvPr/>
        </p:nvCxnSpPr>
        <p:spPr>
          <a:xfrm>
            <a:off x="8002316" y="4364296"/>
            <a:ext cx="1615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A1A181F7-F45B-7C01-7558-02DF6731F35D}"/>
              </a:ext>
            </a:extLst>
          </p:cNvPr>
          <p:cNvCxnSpPr>
            <a:cxnSpLocks/>
          </p:cNvCxnSpPr>
          <p:nvPr/>
        </p:nvCxnSpPr>
        <p:spPr>
          <a:xfrm>
            <a:off x="8002316" y="4530188"/>
            <a:ext cx="1615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08D17D5A-799D-D8C6-6460-36D4CFE1C66B}"/>
              </a:ext>
            </a:extLst>
          </p:cNvPr>
          <p:cNvCxnSpPr>
            <a:cxnSpLocks/>
          </p:cNvCxnSpPr>
          <p:nvPr/>
        </p:nvCxnSpPr>
        <p:spPr>
          <a:xfrm>
            <a:off x="8145017" y="4696074"/>
            <a:ext cx="32837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F8777295-B14C-0225-B855-7CC7BD240021}"/>
              </a:ext>
            </a:extLst>
          </p:cNvPr>
          <p:cNvCxnSpPr>
            <a:cxnSpLocks/>
          </p:cNvCxnSpPr>
          <p:nvPr/>
        </p:nvCxnSpPr>
        <p:spPr>
          <a:xfrm>
            <a:off x="8145017" y="2539484"/>
            <a:ext cx="328377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D4DA4830-7675-B09F-FFF7-11A06F0B7961}"/>
              </a:ext>
            </a:extLst>
          </p:cNvPr>
          <p:cNvCxnSpPr>
            <a:cxnSpLocks/>
          </p:cNvCxnSpPr>
          <p:nvPr/>
        </p:nvCxnSpPr>
        <p:spPr>
          <a:xfrm>
            <a:off x="8002316" y="3534836"/>
            <a:ext cx="1615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D32A7E4E-78C2-D445-58F0-18287E2364D3}"/>
              </a:ext>
            </a:extLst>
          </p:cNvPr>
          <p:cNvCxnSpPr>
            <a:cxnSpLocks/>
          </p:cNvCxnSpPr>
          <p:nvPr/>
        </p:nvCxnSpPr>
        <p:spPr>
          <a:xfrm>
            <a:off x="8145017" y="3037160"/>
            <a:ext cx="328430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FA08D59B-5C2C-37BB-0E37-87BE6CC6977C}"/>
              </a:ext>
            </a:extLst>
          </p:cNvPr>
          <p:cNvCxnSpPr>
            <a:cxnSpLocks/>
          </p:cNvCxnSpPr>
          <p:nvPr/>
        </p:nvCxnSpPr>
        <p:spPr>
          <a:xfrm>
            <a:off x="8002316" y="2871268"/>
            <a:ext cx="1615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27AC8B95-4E0F-9927-D40E-8C8372D53E88}"/>
              </a:ext>
            </a:extLst>
          </p:cNvPr>
          <p:cNvCxnSpPr>
            <a:cxnSpLocks/>
          </p:cNvCxnSpPr>
          <p:nvPr/>
        </p:nvCxnSpPr>
        <p:spPr>
          <a:xfrm>
            <a:off x="8002316" y="2705376"/>
            <a:ext cx="161590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F0C642C9-D57E-4865-9D94-DAD58EA7180B}"/>
              </a:ext>
            </a:extLst>
          </p:cNvPr>
          <p:cNvCxnSpPr>
            <a:cxnSpLocks/>
          </p:cNvCxnSpPr>
          <p:nvPr/>
        </p:nvCxnSpPr>
        <p:spPr>
          <a:xfrm flipV="1">
            <a:off x="9786906" y="2470622"/>
            <a:ext cx="0" cy="2276881"/>
          </a:xfrm>
          <a:prstGeom prst="line">
            <a:avLst/>
          </a:prstGeom>
          <a:ln w="1270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Gerade Verbindung mit Pfeil 143">
            <a:extLst>
              <a:ext uri="{FF2B5EF4-FFF2-40B4-BE49-F238E27FC236}">
                <a16:creationId xmlns:a16="http://schemas.microsoft.com/office/drawing/2014/main" id="{DCF0FC8A-9FD8-3B9E-84DD-00C5CF05434B}"/>
              </a:ext>
            </a:extLst>
          </p:cNvPr>
          <p:cNvCxnSpPr>
            <a:cxnSpLocks/>
          </p:cNvCxnSpPr>
          <p:nvPr/>
        </p:nvCxnSpPr>
        <p:spPr>
          <a:xfrm>
            <a:off x="9113911" y="4846392"/>
            <a:ext cx="672995" cy="0"/>
          </a:xfrm>
          <a:prstGeom prst="straightConnector1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Gerade Verbindung mit Pfeil 143">
            <a:extLst>
              <a:ext uri="{FF2B5EF4-FFF2-40B4-BE49-F238E27FC236}">
                <a16:creationId xmlns:a16="http://schemas.microsoft.com/office/drawing/2014/main" id="{4D305A0E-9E41-D3FF-DE66-01D847BE889F}"/>
              </a:ext>
            </a:extLst>
          </p:cNvPr>
          <p:cNvCxnSpPr>
            <a:cxnSpLocks/>
          </p:cNvCxnSpPr>
          <p:nvPr/>
        </p:nvCxnSpPr>
        <p:spPr>
          <a:xfrm>
            <a:off x="8145017" y="4846392"/>
            <a:ext cx="911344" cy="0"/>
          </a:xfrm>
          <a:prstGeom prst="straightConnector1">
            <a:avLst/>
          </a:prstGeom>
          <a:ln w="127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79CCA678-DD9C-2714-5F21-792BFD4C155A}"/>
              </a:ext>
            </a:extLst>
          </p:cNvPr>
          <p:cNvGrpSpPr/>
          <p:nvPr/>
        </p:nvGrpSpPr>
        <p:grpSpPr>
          <a:xfrm>
            <a:off x="7688400" y="1172077"/>
            <a:ext cx="460800" cy="460801"/>
            <a:chOff x="3009210" y="1597025"/>
            <a:chExt cx="460801" cy="460801"/>
          </a:xfrm>
        </p:grpSpPr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3624E2D-149A-341E-3308-6D819F95E21A}"/>
                </a:ext>
              </a:extLst>
            </p:cNvPr>
            <p:cNvSpPr/>
            <p:nvPr/>
          </p:nvSpPr>
          <p:spPr>
            <a:xfrm>
              <a:off x="3009210" y="1597025"/>
              <a:ext cx="460801" cy="4608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1600" dirty="0"/>
            </a:p>
          </p:txBody>
        </p: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7F328315-78A8-00CA-69EB-B183C763CAFB}"/>
                </a:ext>
              </a:extLst>
            </p:cNvPr>
            <p:cNvCxnSpPr>
              <a:cxnSpLocks/>
            </p:cNvCxnSpPr>
            <p:nvPr/>
          </p:nvCxnSpPr>
          <p:spPr>
            <a:xfrm>
              <a:off x="3182476" y="1668870"/>
              <a:ext cx="153909" cy="153909"/>
            </a:xfrm>
            <a:prstGeom prst="line">
              <a:avLst/>
            </a:prstGeom>
            <a:ln w="44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897EF8C0-2F9F-02A7-C67F-9F76297FE7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2476" y="1822779"/>
              <a:ext cx="153909" cy="153909"/>
            </a:xfrm>
            <a:prstGeom prst="line">
              <a:avLst/>
            </a:prstGeom>
            <a:ln w="44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Rectangle 334">
              <a:extLst>
                <a:ext uri="{FF2B5EF4-FFF2-40B4-BE49-F238E27FC236}">
                  <a16:creationId xmlns:a16="http://schemas.microsoft.com/office/drawing/2014/main" id="{8E039961-94D5-0760-16F3-DAA0C21CD282}"/>
                </a:ext>
              </a:extLst>
            </p:cNvPr>
            <p:cNvSpPr/>
            <p:nvPr/>
          </p:nvSpPr>
          <p:spPr>
            <a:xfrm rot="2700000">
              <a:off x="3314020" y="1799920"/>
              <a:ext cx="45719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feld 138">
                <a:extLst>
                  <a:ext uri="{FF2B5EF4-FFF2-40B4-BE49-F238E27FC236}">
                    <a16:creationId xmlns:a16="http://schemas.microsoft.com/office/drawing/2014/main" id="{85C0BFFC-5940-20BD-B029-58D4111A4719}"/>
                  </a:ext>
                </a:extLst>
              </p:cNvPr>
              <p:cNvSpPr txBox="1"/>
              <p:nvPr/>
            </p:nvSpPr>
            <p:spPr>
              <a:xfrm>
                <a:off x="8106487" y="5199935"/>
                <a:ext cx="2976757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b="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1800" b="0" i="1" noProof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𝐻𝑋</m:t>
                          </m:r>
                        </m:sub>
                      </m:sSub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h𝑒𝑎𝑡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𝑡𝑟𝑎𝑛𝑠𝑓𝑒𝑟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noProof="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39" name="Textfeld 138">
                <a:extLst>
                  <a:ext uri="{FF2B5EF4-FFF2-40B4-BE49-F238E27FC236}">
                    <a16:creationId xmlns:a16="http://schemas.microsoft.com/office/drawing/2014/main" id="{85C0BFFC-5940-20BD-B029-58D4111A4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6487" y="5199935"/>
                <a:ext cx="2976757" cy="424732"/>
              </a:xfrm>
              <a:prstGeom prst="rect">
                <a:avLst/>
              </a:prstGeom>
              <a:blipFill>
                <a:blip r:embed="rId9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0" name="Textfeld 138">
                <a:extLst>
                  <a:ext uri="{FF2B5EF4-FFF2-40B4-BE49-F238E27FC236}">
                    <a16:creationId xmlns:a16="http://schemas.microsoft.com/office/drawing/2014/main" id="{6A9BCD0F-DCEC-770A-54A1-618591096284}"/>
                  </a:ext>
                </a:extLst>
              </p:cNvPr>
              <p:cNvSpPr txBox="1"/>
              <p:nvPr/>
            </p:nvSpPr>
            <p:spPr>
              <a:xfrm>
                <a:off x="9182019" y="4841822"/>
                <a:ext cx="2026883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800" b="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noProof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de-DE" sz="1800" b="0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𝑘𝑖𝑛𝑒𝑡𝑖𝑐𝑠</m:t>
                      </m:r>
                      <m:r>
                        <a:rPr lang="de-DE" sz="1800" b="0" i="1" noProof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noProof="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40" name="Textfeld 138">
                <a:extLst>
                  <a:ext uri="{FF2B5EF4-FFF2-40B4-BE49-F238E27FC236}">
                    <a16:creationId xmlns:a16="http://schemas.microsoft.com/office/drawing/2014/main" id="{6A9BCD0F-DCEC-770A-54A1-618591096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2019" y="4841822"/>
                <a:ext cx="2026883" cy="424732"/>
              </a:xfrm>
              <a:prstGeom prst="rect">
                <a:avLst/>
              </a:prstGeom>
              <a:blipFill>
                <a:blip r:embed="rId1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39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2E686D6-C681-BF3A-AA40-9E3CC918E69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99716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BE270-2ECC-2F0A-5D75-E2BB38EE8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D6785-39AA-4344-F4C8-2C6B8D6A6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DA905A-CC6B-86E0-1F7D-9233555A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 vert="horz" rIns="0"/>
          <a:lstStyle/>
          <a:p>
            <a:r>
              <a:rPr lang="en-DE" dirty="0"/>
              <a:t>Potential for catalyst free gas phase reaction would allow smaller </a:t>
            </a:r>
            <a:br>
              <a:rPr lang="en-DE" dirty="0"/>
            </a:br>
            <a:r>
              <a:rPr lang="en-DE" dirty="0"/>
              <a:t>reactor design and lower costs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36CB1B-7D38-8630-8AC0-86A08767A0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677" y="2328801"/>
            <a:ext cx="2693381" cy="22234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C82314-CB2F-E24D-7EC8-7C652213A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422" y="2328801"/>
            <a:ext cx="2693381" cy="2232974"/>
          </a:xfrm>
          <a:prstGeom prst="rect">
            <a:avLst/>
          </a:prstGeom>
        </p:spPr>
      </p:pic>
      <p:sp>
        <p:nvSpPr>
          <p:cNvPr id="24" name="Titel 4">
            <a:extLst>
              <a:ext uri="{FF2B5EF4-FFF2-40B4-BE49-F238E27FC236}">
                <a16:creationId xmlns:a16="http://schemas.microsoft.com/office/drawing/2014/main" id="{D2ADDC4B-9FBC-AE58-5642-CC200ECC1A7B}"/>
              </a:ext>
            </a:extLst>
          </p:cNvPr>
          <p:cNvSpPr txBox="1">
            <a:spLocks/>
          </p:cNvSpPr>
          <p:nvPr/>
        </p:nvSpPr>
        <p:spPr>
          <a:xfrm>
            <a:off x="624421" y="1278874"/>
            <a:ext cx="4190769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Thermodynamic equilibria (1 bar)</a:t>
            </a:r>
          </a:p>
        </p:txBody>
      </p:sp>
      <p:sp>
        <p:nvSpPr>
          <p:cNvPr id="25" name="Titel 4">
            <a:extLst>
              <a:ext uri="{FF2B5EF4-FFF2-40B4-BE49-F238E27FC236}">
                <a16:creationId xmlns:a16="http://schemas.microsoft.com/office/drawing/2014/main" id="{B5DCD5D4-9AA8-ED57-79C0-9E386F8C8611}"/>
              </a:ext>
            </a:extLst>
          </p:cNvPr>
          <p:cNvSpPr txBox="1">
            <a:spLocks/>
          </p:cNvSpPr>
          <p:nvPr/>
        </p:nvSpPr>
        <p:spPr>
          <a:xfrm>
            <a:off x="3641549" y="1856302"/>
            <a:ext cx="3259731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 dirty="0"/>
              <a:t>Dry reforming of methane </a:t>
            </a:r>
            <a:br>
              <a:rPr lang="en-US" sz="1600" b="0" dirty="0"/>
            </a:br>
            <a:r>
              <a:rPr lang="en-US" sz="1600" b="0" dirty="0"/>
              <a:t>CH</a:t>
            </a:r>
            <a:r>
              <a:rPr lang="en-US" sz="1600" b="0" baseline="-25000" dirty="0"/>
              <a:t>4</a:t>
            </a:r>
            <a:r>
              <a:rPr lang="en-US" sz="1600" b="0" dirty="0"/>
              <a:t>​ + CO</a:t>
            </a:r>
            <a:r>
              <a:rPr lang="en-US" sz="1600" b="0" baseline="-25000" dirty="0"/>
              <a:t>2 </a:t>
            </a:r>
            <a:r>
              <a:rPr lang="en-US" sz="1600" b="0" dirty="0"/>
              <a:t>⇌ CO + H</a:t>
            </a:r>
            <a:r>
              <a:rPr lang="en-US" sz="1600" b="0" baseline="-25000" dirty="0"/>
              <a:t>2</a:t>
            </a:r>
          </a:p>
        </p:txBody>
      </p:sp>
      <p:sp>
        <p:nvSpPr>
          <p:cNvPr id="26" name="Titel 4">
            <a:extLst>
              <a:ext uri="{FF2B5EF4-FFF2-40B4-BE49-F238E27FC236}">
                <a16:creationId xmlns:a16="http://schemas.microsoft.com/office/drawing/2014/main" id="{D3615EC2-CE28-214E-15AD-D6002A5BE617}"/>
              </a:ext>
            </a:extLst>
          </p:cNvPr>
          <p:cNvSpPr txBox="1">
            <a:spLocks/>
          </p:cNvSpPr>
          <p:nvPr/>
        </p:nvSpPr>
        <p:spPr>
          <a:xfrm>
            <a:off x="6658677" y="1856302"/>
            <a:ext cx="3259731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 dirty="0"/>
              <a:t>Bi-reforming of methane </a:t>
            </a:r>
            <a:br>
              <a:rPr lang="en-US" sz="1600" b="0" dirty="0"/>
            </a:br>
            <a:r>
              <a:rPr lang="en-US" sz="1600" b="0" dirty="0"/>
              <a:t>CH</a:t>
            </a:r>
            <a:r>
              <a:rPr lang="en-US" sz="1600" b="0" baseline="-25000" dirty="0"/>
              <a:t>4</a:t>
            </a:r>
            <a:r>
              <a:rPr lang="en-US" sz="1600" b="0" dirty="0"/>
              <a:t>​ + CO</a:t>
            </a:r>
            <a:r>
              <a:rPr lang="en-US" sz="1600" b="0" baseline="-25000" dirty="0"/>
              <a:t>2 </a:t>
            </a:r>
            <a:r>
              <a:rPr lang="en-US" sz="1600" b="0" dirty="0"/>
              <a:t>⇌ CO + H</a:t>
            </a:r>
            <a:r>
              <a:rPr lang="en-US" sz="1600" b="0" baseline="-25000" dirty="0"/>
              <a:t>2</a:t>
            </a:r>
            <a:endParaRPr lang="en-US" sz="1600" b="0" dirty="0"/>
          </a:p>
        </p:txBody>
      </p:sp>
      <p:sp>
        <p:nvSpPr>
          <p:cNvPr id="27" name="Titel 4">
            <a:extLst>
              <a:ext uri="{FF2B5EF4-FFF2-40B4-BE49-F238E27FC236}">
                <a16:creationId xmlns:a16="http://schemas.microsoft.com/office/drawing/2014/main" id="{899E6750-8C6A-495B-90AE-3DA8E7D9C2D1}"/>
              </a:ext>
            </a:extLst>
          </p:cNvPr>
          <p:cNvSpPr txBox="1">
            <a:spLocks/>
          </p:cNvSpPr>
          <p:nvPr/>
        </p:nvSpPr>
        <p:spPr>
          <a:xfrm>
            <a:off x="624422" y="1856302"/>
            <a:ext cx="3259731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 dirty="0"/>
              <a:t>Steam methane reforming </a:t>
            </a:r>
            <a:br>
              <a:rPr lang="en-US" sz="1600" b="0" dirty="0"/>
            </a:br>
            <a:r>
              <a:rPr lang="en-US" sz="1600" b="0" dirty="0"/>
              <a:t>CH</a:t>
            </a:r>
            <a:r>
              <a:rPr lang="en-US" sz="1600" b="0" baseline="-25000" dirty="0"/>
              <a:t>4​</a:t>
            </a:r>
            <a:r>
              <a:rPr lang="en-US" sz="1600" b="0" dirty="0"/>
              <a:t> + H</a:t>
            </a:r>
            <a:r>
              <a:rPr lang="en-US" sz="1600" b="0" baseline="-25000" dirty="0"/>
              <a:t>2</a:t>
            </a:r>
            <a:r>
              <a:rPr lang="en-US" sz="1600" b="0" dirty="0"/>
              <a:t>​O ⇌ CO + 3 H</a:t>
            </a:r>
            <a:r>
              <a:rPr lang="en-US" sz="1600" b="0" baseline="-25000" dirty="0"/>
              <a:t>2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EC83DAF-204C-66E2-4CA1-D1341D5007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1549" y="2328801"/>
            <a:ext cx="2709342" cy="223297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D6F2C4A-D0A9-F35A-DF22-D53245AF748C}"/>
              </a:ext>
            </a:extLst>
          </p:cNvPr>
          <p:cNvSpPr/>
          <p:nvPr/>
        </p:nvSpPr>
        <p:spPr>
          <a:xfrm>
            <a:off x="9633752" y="0"/>
            <a:ext cx="2558248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 dirty="0"/>
          </a:p>
        </p:txBody>
      </p:sp>
      <p:sp>
        <p:nvSpPr>
          <p:cNvPr id="34" name="Titel 4">
            <a:extLst>
              <a:ext uri="{FF2B5EF4-FFF2-40B4-BE49-F238E27FC236}">
                <a16:creationId xmlns:a16="http://schemas.microsoft.com/office/drawing/2014/main" id="{EC84C08A-96BD-CC8C-446E-25C75D1A0003}"/>
              </a:ext>
            </a:extLst>
          </p:cNvPr>
          <p:cNvSpPr txBox="1">
            <a:spLocks/>
          </p:cNvSpPr>
          <p:nvPr/>
        </p:nvSpPr>
        <p:spPr>
          <a:xfrm>
            <a:off x="624422" y="5089525"/>
            <a:ext cx="3571182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Kinetics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5062DD-8A48-7CB7-D4BC-8BEE7DA655C7}"/>
              </a:ext>
            </a:extLst>
          </p:cNvPr>
          <p:cNvSpPr txBox="1"/>
          <p:nvPr/>
        </p:nvSpPr>
        <p:spPr>
          <a:xfrm>
            <a:off x="9756184" y="1215001"/>
            <a:ext cx="1811406" cy="49310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High temperatures lead to </a:t>
            </a:r>
            <a:r>
              <a:rPr lang="en-DE" sz="1600" b="1" dirty="0"/>
              <a:t>better equilibrium yields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And </a:t>
            </a:r>
            <a:r>
              <a:rPr lang="en-DE" sz="1600" b="1" dirty="0"/>
              <a:t>faster reaction 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High pressures lead to</a:t>
            </a:r>
            <a:r>
              <a:rPr lang="en-DE" sz="1600" b="1" dirty="0"/>
              <a:t> worse equilibrium yields </a:t>
            </a:r>
            <a:r>
              <a:rPr lang="en-DE" sz="1600" dirty="0"/>
              <a:t>(SMR), but temperature can compensate for that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And </a:t>
            </a:r>
            <a:r>
              <a:rPr lang="en-DE" sz="1600" b="1" dirty="0"/>
              <a:t>faster reaction </a:t>
            </a:r>
            <a:endParaRPr lang="en-GB" sz="1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F8B841-227D-7604-F5E2-1B93FCF15570}"/>
                  </a:ext>
                </a:extLst>
              </p:cNvPr>
              <p:cNvSpPr txBox="1"/>
              <p:nvPr/>
            </p:nvSpPr>
            <p:spPr>
              <a:xfrm>
                <a:off x="2719805" y="5537306"/>
                <a:ext cx="1909690" cy="4287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de-DE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e-D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de-DE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e-DE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de-DE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de-DE" sz="16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CF8B841-227D-7604-F5E2-1B93FCF15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805" y="5537306"/>
                <a:ext cx="1909690" cy="428707"/>
              </a:xfrm>
              <a:prstGeom prst="rect">
                <a:avLst/>
              </a:prstGeom>
              <a:blipFill>
                <a:blip r:embed="rId9"/>
                <a:stretch>
                  <a:fillRect l="-1987" b="-85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944DFDD-1A7F-3F3A-0AAD-74B0A8FE5AA7}"/>
                  </a:ext>
                </a:extLst>
              </p:cNvPr>
              <p:cNvSpPr txBox="1"/>
              <p:nvPr/>
            </p:nvSpPr>
            <p:spPr>
              <a:xfrm>
                <a:off x="624422" y="5622118"/>
                <a:ext cx="1504258" cy="2785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25"/>
                  </a:spcBef>
                  <a:buClr>
                    <a:schemeClr val="accent1"/>
                  </a:buClr>
                </a:pPr>
                <a14:m>
                  <m:oMath xmlns:m="http://schemas.openxmlformats.org/officeDocument/2006/math"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de-DE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de-DE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de-DE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  <m:sup>
                        <m:r>
                          <a:rPr lang="de-DE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de-DE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de-DE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de-DE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de-DE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  <m:sup>
                        <m:r>
                          <a:rPr lang="de-DE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</m:oMath>
                </a14:m>
                <a:endParaRPr lang="en-DE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944DFDD-1A7F-3F3A-0AAD-74B0A8FE5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22" y="5622118"/>
                <a:ext cx="1504258" cy="278538"/>
              </a:xfrm>
              <a:prstGeom prst="rect">
                <a:avLst/>
              </a:prstGeom>
              <a:blipFill>
                <a:blip r:embed="rId10"/>
                <a:stretch>
                  <a:fillRect l="-2500" r="-2500" b="-2173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45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1A0AF1-43ED-D853-6B81-3397A7C4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76DE18F-8B55-C130-0918-74867DCA3CC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485508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F3929A3-8E51-594C-DC99-5B58B2BC3D26}"/>
              </a:ext>
            </a:extLst>
          </p:cNvPr>
          <p:cNvSpPr/>
          <p:nvPr/>
        </p:nvSpPr>
        <p:spPr>
          <a:xfrm>
            <a:off x="9633752" y="0"/>
            <a:ext cx="2558248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799E34-17AE-9642-164A-6D5020E2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CEB1BF-3735-8410-3955-B8CE29BE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4172" y="6589158"/>
            <a:ext cx="353417" cy="153888"/>
          </a:xfrm>
        </p:spPr>
        <p:txBody>
          <a:bodyPr/>
          <a:lstStyle/>
          <a:p>
            <a:fld id="{9E82CC3C-1DC0-4FDA-9590-6CC506AB67F8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970D30-2FC4-8F53-B803-C51AB5F5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3" y="327666"/>
            <a:ext cx="8807274" cy="333948"/>
          </a:xfrm>
        </p:spPr>
        <p:txBody>
          <a:bodyPr vert="horz" rIns="0"/>
          <a:lstStyle/>
          <a:p>
            <a:r>
              <a:rPr lang="en-US" dirty="0"/>
              <a:t>The SMR process is the current state-of-the-art process in varied designs for different sectors and should be used for comparison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8A2B3F-39BD-4E9C-23C1-B05319AB0C0F}"/>
              </a:ext>
            </a:extLst>
          </p:cNvPr>
          <p:cNvSpPr txBox="1"/>
          <p:nvPr/>
        </p:nvSpPr>
        <p:spPr>
          <a:xfrm>
            <a:off x="9756184" y="1020763"/>
            <a:ext cx="1811406" cy="5983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b="1" dirty="0"/>
              <a:t>Sectors: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44% Refining (hydrotreating &amp; hydrocracking)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33% Ammonia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17% Methanol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6% Steel </a:t>
            </a: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b="1" dirty="0"/>
              <a:t>Future Outlook: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Refinery demand is assumed to reduce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Industry demand to increase, primarily driven by steel </a:t>
            </a: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dirty="0"/>
              <a:t> </a:t>
            </a: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endParaRPr lang="en-GB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A7FB88-C127-9D9F-1751-49B722C10C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224" b="26135"/>
          <a:stretch>
            <a:fillRect/>
          </a:stretch>
        </p:blipFill>
        <p:spPr>
          <a:xfrm>
            <a:off x="2051637" y="1020763"/>
            <a:ext cx="5287746" cy="27982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B4982B-49FE-53C0-8657-240907B04E3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907" t="16512" r="33095" b="29829"/>
          <a:stretch>
            <a:fillRect/>
          </a:stretch>
        </p:blipFill>
        <p:spPr>
          <a:xfrm>
            <a:off x="2051637" y="4011302"/>
            <a:ext cx="4818655" cy="24808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08489CE-B571-E5B2-3130-943D6390D3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1440" y="4971186"/>
            <a:ext cx="1890256" cy="1281629"/>
          </a:xfrm>
          <a:prstGeom prst="rect">
            <a:avLst/>
          </a:prstGeom>
        </p:spPr>
      </p:pic>
      <p:sp>
        <p:nvSpPr>
          <p:cNvPr id="23" name="Titel 4">
            <a:extLst>
              <a:ext uri="{FF2B5EF4-FFF2-40B4-BE49-F238E27FC236}">
                <a16:creationId xmlns:a16="http://schemas.microsoft.com/office/drawing/2014/main" id="{A650DECB-B0DD-5E4E-A441-A7C6CDCDE16C}"/>
              </a:ext>
            </a:extLst>
          </p:cNvPr>
          <p:cNvSpPr txBox="1">
            <a:spLocks/>
          </p:cNvSpPr>
          <p:nvPr/>
        </p:nvSpPr>
        <p:spPr>
          <a:xfrm>
            <a:off x="624422" y="1020763"/>
            <a:ext cx="14272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900" dirty="0"/>
              <a:t>Hydrogen production by technology and by region, 2021-2024</a:t>
            </a:r>
          </a:p>
        </p:txBody>
      </p:sp>
      <p:sp>
        <p:nvSpPr>
          <p:cNvPr id="24" name="Titel 4">
            <a:extLst>
              <a:ext uri="{FF2B5EF4-FFF2-40B4-BE49-F238E27FC236}">
                <a16:creationId xmlns:a16="http://schemas.microsoft.com/office/drawing/2014/main" id="{900CFEAE-DDB1-C1ED-4D0A-26B4021F569E}"/>
              </a:ext>
            </a:extLst>
          </p:cNvPr>
          <p:cNvSpPr txBox="1">
            <a:spLocks/>
          </p:cNvSpPr>
          <p:nvPr/>
        </p:nvSpPr>
        <p:spPr>
          <a:xfrm>
            <a:off x="624422" y="4011308"/>
            <a:ext cx="14272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900" dirty="0"/>
              <a:t>Hydrogen demand by sector, 2019-2030 </a:t>
            </a:r>
            <a:br>
              <a:rPr lang="en-US" sz="1900" dirty="0"/>
            </a:br>
            <a:r>
              <a:rPr lang="en-US" sz="1900" dirty="0"/>
              <a:t>Breakdown of industry, 2020-2030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FA675DF-4B71-3114-220A-AEC929C77DFA}"/>
              </a:ext>
            </a:extLst>
          </p:cNvPr>
          <p:cNvSpPr/>
          <p:nvPr/>
        </p:nvSpPr>
        <p:spPr>
          <a:xfrm>
            <a:off x="6951773" y="5286304"/>
            <a:ext cx="396402" cy="150986"/>
          </a:xfrm>
          <a:prstGeom prst="rightArrow">
            <a:avLst/>
          </a:prstGeom>
          <a:solidFill>
            <a:srgbClr val="2FAE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703AF69-4AEE-F291-1CD3-C90434776839}"/>
              </a:ext>
            </a:extLst>
          </p:cNvPr>
          <p:cNvCxnSpPr>
            <a:cxnSpLocks/>
          </p:cNvCxnSpPr>
          <p:nvPr/>
        </p:nvCxnSpPr>
        <p:spPr>
          <a:xfrm>
            <a:off x="533866" y="3926858"/>
            <a:ext cx="89405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7BE54C67-EE79-A249-3C4F-D0313A7E9E03}"/>
              </a:ext>
            </a:extLst>
          </p:cNvPr>
          <p:cNvSpPr/>
          <p:nvPr/>
        </p:nvSpPr>
        <p:spPr>
          <a:xfrm>
            <a:off x="7227600" y="1881603"/>
            <a:ext cx="120575" cy="754018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1D13F9-D6DE-00CB-50DD-10C6B6828B9B}"/>
              </a:ext>
            </a:extLst>
          </p:cNvPr>
          <p:cNvSpPr txBox="1"/>
          <p:nvPr/>
        </p:nvSpPr>
        <p:spPr>
          <a:xfrm>
            <a:off x="7541439" y="1556239"/>
            <a:ext cx="1932957" cy="1154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dirty="0"/>
              <a:t>Main regions differentiate significantly in cost structures 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1E86D4F-EFE5-04EE-2FA5-446A061D041E}"/>
              </a:ext>
            </a:extLst>
          </p:cNvPr>
          <p:cNvSpPr/>
          <p:nvPr/>
        </p:nvSpPr>
        <p:spPr>
          <a:xfrm>
            <a:off x="7227599" y="3695465"/>
            <a:ext cx="120575" cy="150986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B4A443-D87D-6396-B2B9-6523AFCCFE47}"/>
              </a:ext>
            </a:extLst>
          </p:cNvPr>
          <p:cNvSpPr txBox="1"/>
          <p:nvPr/>
        </p:nvSpPr>
        <p:spPr>
          <a:xfrm>
            <a:off x="7541439" y="3636819"/>
            <a:ext cx="1932957" cy="26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dirty="0"/>
              <a:t>SMR is main process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4775E0-B818-010D-9326-F7CBE7962D54}"/>
              </a:ext>
            </a:extLst>
          </p:cNvPr>
          <p:cNvSpPr/>
          <p:nvPr/>
        </p:nvSpPr>
        <p:spPr>
          <a:xfrm>
            <a:off x="0" y="0"/>
            <a:ext cx="3630440" cy="1475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Not most up to date data (2024)</a:t>
            </a:r>
          </a:p>
        </p:txBody>
      </p:sp>
    </p:spTree>
    <p:extLst>
      <p:ext uri="{BB962C8B-B14F-4D97-AF65-F5344CB8AC3E}">
        <p14:creationId xmlns:p14="http://schemas.microsoft.com/office/powerpoint/2010/main" val="259400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C4C2-DAFB-8992-9542-8F4A1F25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625FFB3-39E5-4787-4AA0-9B358108BF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1257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6DE18F-8B55-C130-0918-74867DCA3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5AD06D6C-1A11-21EF-AEE2-97478964B0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28" t="6701" r="2670" b="28747"/>
          <a:stretch>
            <a:fillRect/>
          </a:stretch>
        </p:blipFill>
        <p:spPr>
          <a:xfrm>
            <a:off x="2359489" y="1320057"/>
            <a:ext cx="4858963" cy="22323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CB28C3-6205-8DCB-C670-8AB4D117C29B}"/>
              </a:ext>
            </a:extLst>
          </p:cNvPr>
          <p:cNvSpPr/>
          <p:nvPr/>
        </p:nvSpPr>
        <p:spPr>
          <a:xfrm>
            <a:off x="9633752" y="0"/>
            <a:ext cx="2558248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6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786ECE-6F14-F15B-2E3D-773CE6E1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3C598B-CC82-A81F-F487-12678BF8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4172" y="6589158"/>
            <a:ext cx="353417" cy="153888"/>
          </a:xfrm>
        </p:spPr>
        <p:txBody>
          <a:bodyPr/>
          <a:lstStyle/>
          <a:p>
            <a:fld id="{9E82CC3C-1DC0-4FDA-9590-6CC506AB67F8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79D6C26-4BB1-C8E8-A9A6-003F15C8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3" y="327666"/>
            <a:ext cx="8807274" cy="333948"/>
          </a:xfrm>
        </p:spPr>
        <p:txBody>
          <a:bodyPr vert="horz" rIns="0"/>
          <a:lstStyle/>
          <a:p>
            <a:r>
              <a:rPr lang="en-US" dirty="0"/>
              <a:t>The SMR process is the current state-of-the-art process in varied designs for different sectors and should be used for comparison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BF9413-4DB2-A6F1-5AFC-9F78A8E990EE}"/>
              </a:ext>
            </a:extLst>
          </p:cNvPr>
          <p:cNvSpPr txBox="1"/>
          <p:nvPr/>
        </p:nvSpPr>
        <p:spPr>
          <a:xfrm>
            <a:off x="9756184" y="2380024"/>
            <a:ext cx="1811406" cy="30936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b="1" dirty="0"/>
              <a:t>Sectors: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45% Refining (hydrotreating &amp; hydrocracking)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33% Ammonia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17% Methanol</a:t>
            </a:r>
          </a:p>
          <a:p>
            <a:pPr marL="285750" indent="-285750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5% Steel </a:t>
            </a: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dirty="0"/>
              <a:t> </a:t>
            </a: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endParaRPr lang="en-GB" sz="1600" dirty="0"/>
          </a:p>
        </p:txBody>
      </p:sp>
      <p:sp>
        <p:nvSpPr>
          <p:cNvPr id="23" name="Titel 4">
            <a:extLst>
              <a:ext uri="{FF2B5EF4-FFF2-40B4-BE49-F238E27FC236}">
                <a16:creationId xmlns:a16="http://schemas.microsoft.com/office/drawing/2014/main" id="{9C250146-78F5-02A8-18A6-6F894276A8E0}"/>
              </a:ext>
            </a:extLst>
          </p:cNvPr>
          <p:cNvSpPr txBox="1">
            <a:spLocks/>
          </p:cNvSpPr>
          <p:nvPr/>
        </p:nvSpPr>
        <p:spPr>
          <a:xfrm>
            <a:off x="624422" y="1268413"/>
            <a:ext cx="14272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900" dirty="0"/>
              <a:t>Hydrogen production by technology and by region, 2020-2025</a:t>
            </a:r>
          </a:p>
        </p:txBody>
      </p:sp>
      <p:sp>
        <p:nvSpPr>
          <p:cNvPr id="24" name="Titel 4">
            <a:extLst>
              <a:ext uri="{FF2B5EF4-FFF2-40B4-BE49-F238E27FC236}">
                <a16:creationId xmlns:a16="http://schemas.microsoft.com/office/drawing/2014/main" id="{8808005B-0FDE-2978-E79A-C63EBA052A9F}"/>
              </a:ext>
            </a:extLst>
          </p:cNvPr>
          <p:cNvSpPr txBox="1">
            <a:spLocks/>
          </p:cNvSpPr>
          <p:nvPr/>
        </p:nvSpPr>
        <p:spPr>
          <a:xfrm>
            <a:off x="624422" y="4011308"/>
            <a:ext cx="14272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900" dirty="0"/>
              <a:t>Hydrogen demand by sector, 2012-2025 </a:t>
            </a:r>
            <a:br>
              <a:rPr lang="en-US" sz="1900" dirty="0"/>
            </a:br>
            <a:r>
              <a:rPr lang="en-US" sz="1900" dirty="0"/>
              <a:t>Breakdown of industry, 2020-2024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00C51A41-3B53-4F85-A9E2-DD7AF601A1BC}"/>
              </a:ext>
            </a:extLst>
          </p:cNvPr>
          <p:cNvSpPr/>
          <p:nvPr/>
        </p:nvSpPr>
        <p:spPr>
          <a:xfrm>
            <a:off x="6951772" y="5287896"/>
            <a:ext cx="396402" cy="150986"/>
          </a:xfrm>
          <a:prstGeom prst="rightArrow">
            <a:avLst/>
          </a:prstGeom>
          <a:solidFill>
            <a:srgbClr val="4A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E1787B-092A-C021-1018-745E0EC88C27}"/>
              </a:ext>
            </a:extLst>
          </p:cNvPr>
          <p:cNvCxnSpPr>
            <a:cxnSpLocks/>
          </p:cNvCxnSpPr>
          <p:nvPr/>
        </p:nvCxnSpPr>
        <p:spPr>
          <a:xfrm>
            <a:off x="533866" y="3926858"/>
            <a:ext cx="894053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24CF6336-4061-BAD3-2799-160EF278C17A}"/>
              </a:ext>
            </a:extLst>
          </p:cNvPr>
          <p:cNvSpPr/>
          <p:nvPr/>
        </p:nvSpPr>
        <p:spPr>
          <a:xfrm>
            <a:off x="7227600" y="1726773"/>
            <a:ext cx="120575" cy="68677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D8C437-56F0-F6E6-85D7-5D92612C8328}"/>
              </a:ext>
            </a:extLst>
          </p:cNvPr>
          <p:cNvSpPr txBox="1"/>
          <p:nvPr/>
        </p:nvSpPr>
        <p:spPr>
          <a:xfrm>
            <a:off x="7541439" y="1556239"/>
            <a:ext cx="1932957" cy="11546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dirty="0"/>
              <a:t>Main regions differentiate significantly in cost structures 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E9E93CCB-62C9-D361-6784-3F6EE9DBAD1E}"/>
              </a:ext>
            </a:extLst>
          </p:cNvPr>
          <p:cNvSpPr/>
          <p:nvPr/>
        </p:nvSpPr>
        <p:spPr>
          <a:xfrm>
            <a:off x="7227599" y="3315939"/>
            <a:ext cx="120575" cy="150986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287F2E-19D1-98CE-92E4-DD084C80A0FB}"/>
              </a:ext>
            </a:extLst>
          </p:cNvPr>
          <p:cNvSpPr txBox="1"/>
          <p:nvPr/>
        </p:nvSpPr>
        <p:spPr>
          <a:xfrm>
            <a:off x="7541439" y="3257293"/>
            <a:ext cx="1932957" cy="26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600" dirty="0"/>
              <a:t>SMR is main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E193A-869E-6F78-0568-36E1E901CF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01" t="9789" r="38077" b="30522"/>
          <a:stretch>
            <a:fillRect/>
          </a:stretch>
        </p:blipFill>
        <p:spPr>
          <a:xfrm>
            <a:off x="2359489" y="4009187"/>
            <a:ext cx="3734910" cy="24829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FCFF92-CEE9-9276-241B-8220A9575E7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323" t="13967" r="34455" b="32590"/>
          <a:stretch>
            <a:fillRect/>
          </a:stretch>
        </p:blipFill>
        <p:spPr>
          <a:xfrm>
            <a:off x="7541439" y="5034909"/>
            <a:ext cx="1000616" cy="128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62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D32A-1DD3-EC45-691E-DFE33B88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hink-cell data - do not delete" hidden="1">
            <a:extLst>
              <a:ext uri="{FF2B5EF4-FFF2-40B4-BE49-F238E27FC236}">
                <a16:creationId xmlns:a16="http://schemas.microsoft.com/office/drawing/2014/main" id="{AEA5A7CE-A4B3-292D-5191-C620BC1AF10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673723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AB298CB6-6B3F-8D31-9A89-FF3C04937F69}"/>
              </a:ext>
            </a:extLst>
          </p:cNvPr>
          <p:cNvCxnSpPr>
            <a:cxnSpLocks/>
            <a:endCxn id="281" idx="1"/>
          </p:cNvCxnSpPr>
          <p:nvPr/>
        </p:nvCxnSpPr>
        <p:spPr>
          <a:xfrm flipV="1">
            <a:off x="7954971" y="4946503"/>
            <a:ext cx="1141911" cy="3925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Elbow Connector 349">
            <a:extLst>
              <a:ext uri="{FF2B5EF4-FFF2-40B4-BE49-F238E27FC236}">
                <a16:creationId xmlns:a16="http://schemas.microsoft.com/office/drawing/2014/main" id="{0725CDDD-6CC4-2C94-77A3-8BAC98825225}"/>
              </a:ext>
            </a:extLst>
          </p:cNvPr>
          <p:cNvCxnSpPr>
            <a:cxnSpLocks/>
            <a:stCxn id="267" idx="1"/>
            <a:endCxn id="267" idx="2"/>
          </p:cNvCxnSpPr>
          <p:nvPr/>
        </p:nvCxnSpPr>
        <p:spPr>
          <a:xfrm rot="10800000" flipH="1" flipV="1">
            <a:off x="8321548" y="1816703"/>
            <a:ext cx="261684" cy="137881"/>
          </a:xfrm>
          <a:prstGeom prst="bentConnector4">
            <a:avLst>
              <a:gd name="adj1" fmla="val -87357"/>
              <a:gd name="adj2" fmla="val 265795"/>
            </a:avLst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7190737-0904-2CC2-4556-ADC190672684}"/>
              </a:ext>
            </a:extLst>
          </p:cNvPr>
          <p:cNvCxnSpPr>
            <a:cxnSpLocks/>
          </p:cNvCxnSpPr>
          <p:nvPr/>
        </p:nvCxnSpPr>
        <p:spPr>
          <a:xfrm flipV="1">
            <a:off x="667668" y="4946503"/>
            <a:ext cx="366577" cy="463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0534AA5-43E2-13DC-7D08-457BB8E7C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BD478A-21AD-53A1-EE7D-EB3D5D13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4172" y="6589158"/>
            <a:ext cx="353417" cy="153888"/>
          </a:xfrm>
        </p:spPr>
        <p:txBody>
          <a:bodyPr/>
          <a:lstStyle/>
          <a:p>
            <a:fld id="{9E82CC3C-1DC0-4FDA-9590-6CC506AB67F8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B3B04C8-94A3-7988-B8E5-E476FD482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 vert="horz" rIns="0"/>
          <a:lstStyle/>
          <a:p>
            <a:r>
              <a:rPr lang="en-US" dirty="0"/>
              <a:t>The hydrogen SMR process is used for the preliminary high-level </a:t>
            </a:r>
            <a:br>
              <a:rPr lang="en-US" dirty="0"/>
            </a:br>
            <a:r>
              <a:rPr lang="en-US" dirty="0"/>
              <a:t>comparison with our new reactor system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7B03AB-9417-E1AB-3882-D90D132D388B}"/>
              </a:ext>
            </a:extLst>
          </p:cNvPr>
          <p:cNvSpPr>
            <a:spLocks/>
          </p:cNvSpPr>
          <p:nvPr/>
        </p:nvSpPr>
        <p:spPr>
          <a:xfrm>
            <a:off x="1034245" y="1678823"/>
            <a:ext cx="523368" cy="275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/>
              <a:t>SMR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B3C58-4114-0EA9-D051-1B265413853F}"/>
              </a:ext>
            </a:extLst>
          </p:cNvPr>
          <p:cNvSpPr>
            <a:spLocks/>
          </p:cNvSpPr>
          <p:nvPr/>
        </p:nvSpPr>
        <p:spPr>
          <a:xfrm>
            <a:off x="1809072" y="1678823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WGS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159CD0-8D93-EFAD-3A15-2EB11A9A1E94}"/>
              </a:ext>
            </a:extLst>
          </p:cNvPr>
          <p:cNvSpPr>
            <a:spLocks/>
          </p:cNvSpPr>
          <p:nvPr/>
        </p:nvSpPr>
        <p:spPr>
          <a:xfrm>
            <a:off x="3359740" y="1678823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PSA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891AF6B-3B14-81FB-3192-23CA7AA9A65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1557613" y="1816704"/>
            <a:ext cx="251459" cy="23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A9A5953-8674-F7E4-9517-922B1B661F1E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2332947" y="1816936"/>
            <a:ext cx="1026793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A1E5754E-F33A-4DDF-99F5-A3E3C7D2FAD3}"/>
              </a:ext>
            </a:extLst>
          </p:cNvPr>
          <p:cNvCxnSpPr>
            <a:cxnSpLocks/>
            <a:stCxn id="12" idx="2"/>
            <a:endCxn id="10" idx="2"/>
          </p:cNvCxnSpPr>
          <p:nvPr/>
        </p:nvCxnSpPr>
        <p:spPr>
          <a:xfrm rot="5400000" flipH="1">
            <a:off x="2458572" y="791943"/>
            <a:ext cx="463" cy="2325749"/>
          </a:xfrm>
          <a:prstGeom prst="bentConnector3">
            <a:avLst>
              <a:gd name="adj1" fmla="val -49373650"/>
            </a:avLst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7202307F-2E2C-B0FC-5219-81104064630A}"/>
              </a:ext>
            </a:extLst>
          </p:cNvPr>
          <p:cNvCxnSpPr>
            <a:cxnSpLocks/>
            <a:stCxn id="10" idx="1"/>
            <a:endCxn id="10" idx="2"/>
          </p:cNvCxnSpPr>
          <p:nvPr/>
        </p:nvCxnSpPr>
        <p:spPr>
          <a:xfrm rot="10800000" flipH="1" flipV="1">
            <a:off x="1034245" y="1816703"/>
            <a:ext cx="261684" cy="137881"/>
          </a:xfrm>
          <a:prstGeom prst="bentConnector4">
            <a:avLst>
              <a:gd name="adj1" fmla="val -87357"/>
              <a:gd name="adj2" fmla="val 265795"/>
            </a:avLst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ACFA0BB-82EF-97F5-D2CE-411F01D4CB1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883615" y="1816936"/>
            <a:ext cx="366577" cy="23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77D0FE3-2369-1312-6164-870F4C680833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667668" y="1816704"/>
            <a:ext cx="366577" cy="463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EDBD6467-F338-D221-3BD4-648D674BDE6A}"/>
              </a:ext>
            </a:extLst>
          </p:cNvPr>
          <p:cNvSpPr/>
          <p:nvPr/>
        </p:nvSpPr>
        <p:spPr>
          <a:xfrm>
            <a:off x="1154989" y="1205659"/>
            <a:ext cx="281880" cy="28188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/>
              <a:t>HX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89DA00B-880A-17D2-4F05-3BE5C10A05A0}"/>
              </a:ext>
            </a:extLst>
          </p:cNvPr>
          <p:cNvCxnSpPr>
            <a:cxnSpLocks/>
            <a:stCxn id="10" idx="0"/>
            <a:endCxn id="87" idx="4"/>
          </p:cNvCxnSpPr>
          <p:nvPr/>
        </p:nvCxnSpPr>
        <p:spPr>
          <a:xfrm flipV="1">
            <a:off x="1295929" y="1487539"/>
            <a:ext cx="0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ABA2BF6-301C-BB90-DE6C-22FC08ECE204}"/>
              </a:ext>
            </a:extLst>
          </p:cNvPr>
          <p:cNvCxnSpPr>
            <a:cxnSpLocks/>
            <a:stCxn id="87" idx="0"/>
          </p:cNvCxnSpPr>
          <p:nvPr/>
        </p:nvCxnSpPr>
        <p:spPr>
          <a:xfrm flipV="1">
            <a:off x="1295929" y="1014375"/>
            <a:ext cx="0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21D430B-4C8E-4774-E882-11982B57C643}"/>
              </a:ext>
            </a:extLst>
          </p:cNvPr>
          <p:cNvCxnSpPr>
            <a:cxnSpLocks/>
            <a:endCxn id="87" idx="6"/>
          </p:cNvCxnSpPr>
          <p:nvPr/>
        </p:nvCxnSpPr>
        <p:spPr>
          <a:xfrm flipH="1">
            <a:off x="1436869" y="1346599"/>
            <a:ext cx="192107" cy="0"/>
          </a:xfrm>
          <a:prstGeom prst="straightConnector1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3F46CFBE-B736-23D3-C017-E1D6EB840BCA}"/>
              </a:ext>
            </a:extLst>
          </p:cNvPr>
          <p:cNvCxnSpPr>
            <a:cxnSpLocks/>
            <a:stCxn id="87" idx="2"/>
          </p:cNvCxnSpPr>
          <p:nvPr/>
        </p:nvCxnSpPr>
        <p:spPr>
          <a:xfrm rot="10800000">
            <a:off x="1077069" y="1020763"/>
            <a:ext cx="77920" cy="325836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FC9C70C-3969-F356-4792-028E4239562F}"/>
              </a:ext>
            </a:extLst>
          </p:cNvPr>
          <p:cNvSpPr>
            <a:spLocks/>
          </p:cNvSpPr>
          <p:nvPr/>
        </p:nvSpPr>
        <p:spPr>
          <a:xfrm>
            <a:off x="1034245" y="4808622"/>
            <a:ext cx="523368" cy="275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 err="1"/>
              <a:t>eSMR</a:t>
            </a:r>
            <a:endParaRPr lang="en-GB" sz="1100" b="1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2E898BD-7788-702D-D5DC-ADBC605F06BE}"/>
              </a:ext>
            </a:extLst>
          </p:cNvPr>
          <p:cNvSpPr>
            <a:spLocks/>
          </p:cNvSpPr>
          <p:nvPr/>
        </p:nvSpPr>
        <p:spPr>
          <a:xfrm>
            <a:off x="1809072" y="4808622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WGS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30BE69E-A66D-10FE-4E27-7B2EF1581D69}"/>
              </a:ext>
            </a:extLst>
          </p:cNvPr>
          <p:cNvSpPr>
            <a:spLocks/>
          </p:cNvSpPr>
          <p:nvPr/>
        </p:nvSpPr>
        <p:spPr>
          <a:xfrm>
            <a:off x="3359740" y="4808622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PSA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68A70E09-6D6A-2567-8A79-BF0F23799BD6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>
            <a:off x="1557613" y="4946503"/>
            <a:ext cx="251459" cy="23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B6B07BC-E7C0-4AF0-01AC-612CEFA25B51}"/>
              </a:ext>
            </a:extLst>
          </p:cNvPr>
          <p:cNvCxnSpPr>
            <a:cxnSpLocks/>
            <a:stCxn id="104" idx="3"/>
            <a:endCxn id="119" idx="1"/>
          </p:cNvCxnSpPr>
          <p:nvPr/>
        </p:nvCxnSpPr>
        <p:spPr>
          <a:xfrm>
            <a:off x="2332947" y="4946735"/>
            <a:ext cx="25145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8DF30E1E-7295-EEC9-BCA1-39BAD7776359}"/>
              </a:ext>
            </a:extLst>
          </p:cNvPr>
          <p:cNvCxnSpPr>
            <a:cxnSpLocks/>
            <a:stCxn id="105" idx="2"/>
            <a:endCxn id="103" idx="1"/>
          </p:cNvCxnSpPr>
          <p:nvPr/>
        </p:nvCxnSpPr>
        <p:spPr>
          <a:xfrm rot="5400000" flipH="1">
            <a:off x="2258790" y="3721959"/>
            <a:ext cx="138344" cy="2587433"/>
          </a:xfrm>
          <a:prstGeom prst="bentConnector4">
            <a:avLst>
              <a:gd name="adj1" fmla="val -165240"/>
              <a:gd name="adj2" fmla="val 108835"/>
            </a:avLst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3732546-5C7A-0C9B-E21E-0721D7C29A7D}"/>
              </a:ext>
            </a:extLst>
          </p:cNvPr>
          <p:cNvCxnSpPr>
            <a:cxnSpLocks/>
            <a:stCxn id="105" idx="3"/>
          </p:cNvCxnSpPr>
          <p:nvPr/>
        </p:nvCxnSpPr>
        <p:spPr>
          <a:xfrm>
            <a:off x="3883615" y="4946735"/>
            <a:ext cx="366577" cy="23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2378D73-AABE-7FFE-30C2-F4E6867C9E5C}"/>
              </a:ext>
            </a:extLst>
          </p:cNvPr>
          <p:cNvSpPr>
            <a:spLocks/>
          </p:cNvSpPr>
          <p:nvPr/>
        </p:nvSpPr>
        <p:spPr>
          <a:xfrm>
            <a:off x="2584406" y="4808622"/>
            <a:ext cx="523875" cy="2762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CC</a:t>
            </a:r>
            <a:endParaRPr lang="en-GB" sz="1100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5DBD86D-B473-690C-3725-62F5DD1D7996}"/>
              </a:ext>
            </a:extLst>
          </p:cNvPr>
          <p:cNvCxnSpPr>
            <a:cxnSpLocks/>
            <a:stCxn id="119" idx="3"/>
            <a:endCxn id="105" idx="1"/>
          </p:cNvCxnSpPr>
          <p:nvPr/>
        </p:nvCxnSpPr>
        <p:spPr>
          <a:xfrm>
            <a:off x="3108281" y="4946735"/>
            <a:ext cx="25145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738D3FAB-89A8-F642-7326-A52CB5A1E922}"/>
              </a:ext>
            </a:extLst>
          </p:cNvPr>
          <p:cNvCxnSpPr>
            <a:cxnSpLocks/>
            <a:stCxn id="119" idx="0"/>
          </p:cNvCxnSpPr>
          <p:nvPr/>
        </p:nvCxnSpPr>
        <p:spPr>
          <a:xfrm flipV="1">
            <a:off x="2846344" y="4617338"/>
            <a:ext cx="1937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322AD335-4C7E-77FD-8C92-78DA4FCD43C1}"/>
              </a:ext>
            </a:extLst>
          </p:cNvPr>
          <p:cNvCxnSpPr>
            <a:cxnSpLocks/>
            <a:endCxn id="103" idx="2"/>
          </p:cNvCxnSpPr>
          <p:nvPr/>
        </p:nvCxnSpPr>
        <p:spPr>
          <a:xfrm flipV="1">
            <a:off x="1295929" y="5084384"/>
            <a:ext cx="0" cy="433325"/>
          </a:xfrm>
          <a:prstGeom prst="straightConnector1">
            <a:avLst/>
          </a:prstGeom>
          <a:ln w="25400">
            <a:solidFill>
              <a:srgbClr val="71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Elbow Connector 133">
            <a:extLst>
              <a:ext uri="{FF2B5EF4-FFF2-40B4-BE49-F238E27FC236}">
                <a16:creationId xmlns:a16="http://schemas.microsoft.com/office/drawing/2014/main" id="{5A6C8B8B-267F-899B-360A-6393B7B1A692}"/>
              </a:ext>
            </a:extLst>
          </p:cNvPr>
          <p:cNvCxnSpPr>
            <a:cxnSpLocks/>
            <a:stCxn id="87" idx="2"/>
            <a:endCxn id="10" idx="1"/>
          </p:cNvCxnSpPr>
          <p:nvPr/>
        </p:nvCxnSpPr>
        <p:spPr>
          <a:xfrm rot="10800000" flipV="1">
            <a:off x="1034245" y="1346598"/>
            <a:ext cx="120744" cy="470105"/>
          </a:xfrm>
          <a:prstGeom prst="bentConnector3">
            <a:avLst>
              <a:gd name="adj1" fmla="val 201097"/>
            </a:avLst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73A421D8-A61B-7E71-4243-D447FC0636F9}"/>
              </a:ext>
            </a:extLst>
          </p:cNvPr>
          <p:cNvSpPr txBox="1"/>
          <p:nvPr/>
        </p:nvSpPr>
        <p:spPr>
          <a:xfrm>
            <a:off x="3800747" y="1575525"/>
            <a:ext cx="523875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H</a:t>
            </a:r>
            <a:r>
              <a:rPr lang="en-GB" sz="1100" baseline="-25000" dirty="0"/>
              <a:t>2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2A47B331-B9BF-21C9-304C-2A461BB72F64}"/>
              </a:ext>
            </a:extLst>
          </p:cNvPr>
          <p:cNvSpPr txBox="1"/>
          <p:nvPr/>
        </p:nvSpPr>
        <p:spPr>
          <a:xfrm>
            <a:off x="2012324" y="5102741"/>
            <a:ext cx="167364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b="1" dirty="0"/>
              <a:t>Additional unit!</a:t>
            </a:r>
          </a:p>
        </p:txBody>
      </p:sp>
      <p:sp>
        <p:nvSpPr>
          <p:cNvPr id="234" name="Titel 4">
            <a:extLst>
              <a:ext uri="{FF2B5EF4-FFF2-40B4-BE49-F238E27FC236}">
                <a16:creationId xmlns:a16="http://schemas.microsoft.com/office/drawing/2014/main" id="{AA1F881F-AC6E-BA83-BD7C-4708689AA432}"/>
              </a:ext>
            </a:extLst>
          </p:cNvPr>
          <p:cNvSpPr txBox="1">
            <a:spLocks/>
          </p:cNvSpPr>
          <p:nvPr/>
        </p:nvSpPr>
        <p:spPr>
          <a:xfrm>
            <a:off x="1734676" y="1020763"/>
            <a:ext cx="14272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900" dirty="0"/>
              <a:t>Hydrogen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917757-1D6A-C102-4112-87EDA2912AD2}"/>
              </a:ext>
            </a:extLst>
          </p:cNvPr>
          <p:cNvCxnSpPr>
            <a:cxnSpLocks/>
          </p:cNvCxnSpPr>
          <p:nvPr/>
        </p:nvCxnSpPr>
        <p:spPr>
          <a:xfrm>
            <a:off x="4272144" y="1020763"/>
            <a:ext cx="0" cy="44433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4967AE-876C-26B6-8667-9B5099089AC9}"/>
              </a:ext>
            </a:extLst>
          </p:cNvPr>
          <p:cNvCxnSpPr>
            <a:cxnSpLocks/>
          </p:cNvCxnSpPr>
          <p:nvPr/>
        </p:nvCxnSpPr>
        <p:spPr>
          <a:xfrm>
            <a:off x="7919866" y="1020763"/>
            <a:ext cx="0" cy="44433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A079F02-7B4D-3A49-BE6A-3AAF6A517D37}"/>
              </a:ext>
            </a:extLst>
          </p:cNvPr>
          <p:cNvCxnSpPr>
            <a:cxnSpLocks/>
          </p:cNvCxnSpPr>
          <p:nvPr/>
        </p:nvCxnSpPr>
        <p:spPr>
          <a:xfrm flipV="1">
            <a:off x="4315243" y="1816704"/>
            <a:ext cx="366577" cy="463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1344479-83EC-549A-ED6A-60CB3FD75C54}"/>
              </a:ext>
            </a:extLst>
          </p:cNvPr>
          <p:cNvSpPr>
            <a:spLocks/>
          </p:cNvSpPr>
          <p:nvPr/>
        </p:nvSpPr>
        <p:spPr>
          <a:xfrm>
            <a:off x="4681820" y="1678823"/>
            <a:ext cx="523368" cy="275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/>
              <a:t>SMR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480D5D9-E4BD-5D1A-480E-A83F47F9D823}"/>
              </a:ext>
            </a:extLst>
          </p:cNvPr>
          <p:cNvSpPr>
            <a:spLocks/>
          </p:cNvSpPr>
          <p:nvPr/>
        </p:nvSpPr>
        <p:spPr>
          <a:xfrm>
            <a:off x="5262813" y="1678823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/>
              <a:t>ATR</a:t>
            </a:r>
            <a:endParaRPr lang="en-GB" sz="1100" b="1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DC13176-26BE-8D0C-0D03-7245BA0C10E4}"/>
              </a:ext>
            </a:extLst>
          </p:cNvPr>
          <p:cNvSpPr>
            <a:spLocks/>
          </p:cNvSpPr>
          <p:nvPr/>
        </p:nvSpPr>
        <p:spPr>
          <a:xfrm>
            <a:off x="7007315" y="1678823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Meth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A54F4355-4C55-25EC-77D1-2808513FD746}"/>
              </a:ext>
            </a:extLst>
          </p:cNvPr>
          <p:cNvCxnSpPr>
            <a:cxnSpLocks/>
            <a:stCxn id="141" idx="3"/>
            <a:endCxn id="142" idx="1"/>
          </p:cNvCxnSpPr>
          <p:nvPr/>
        </p:nvCxnSpPr>
        <p:spPr>
          <a:xfrm>
            <a:off x="5205188" y="1816704"/>
            <a:ext cx="57625" cy="23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9412968-31A4-1798-F169-C9103D89102F}"/>
              </a:ext>
            </a:extLst>
          </p:cNvPr>
          <p:cNvCxnSpPr>
            <a:cxnSpLocks/>
            <a:stCxn id="142" idx="3"/>
            <a:endCxn id="167" idx="1"/>
          </p:cNvCxnSpPr>
          <p:nvPr/>
        </p:nvCxnSpPr>
        <p:spPr>
          <a:xfrm>
            <a:off x="5786688" y="1816936"/>
            <a:ext cx="57626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841CEA24-4CC3-3AD2-75E5-6F2E960DED02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7531190" y="1816936"/>
            <a:ext cx="366577" cy="23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94E81909-C089-E85A-C447-6708F1A67B4F}"/>
              </a:ext>
            </a:extLst>
          </p:cNvPr>
          <p:cNvCxnSpPr>
            <a:cxnSpLocks/>
            <a:stCxn id="148" idx="3"/>
            <a:endCxn id="143" idx="1"/>
          </p:cNvCxnSpPr>
          <p:nvPr/>
        </p:nvCxnSpPr>
        <p:spPr>
          <a:xfrm>
            <a:off x="6949690" y="1816936"/>
            <a:ext cx="576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D0FA9C-3035-2BCA-75B1-B0F53BD85D32}"/>
              </a:ext>
            </a:extLst>
          </p:cNvPr>
          <p:cNvCxnSpPr>
            <a:cxnSpLocks/>
            <a:stCxn id="148" idx="0"/>
          </p:cNvCxnSpPr>
          <p:nvPr/>
        </p:nvCxnSpPr>
        <p:spPr>
          <a:xfrm flipV="1">
            <a:off x="6687753" y="1486438"/>
            <a:ext cx="0" cy="192385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92EBA21-CF37-04DE-FB3B-6E274B4DE66D}"/>
              </a:ext>
            </a:extLst>
          </p:cNvPr>
          <p:cNvSpPr>
            <a:spLocks/>
          </p:cNvSpPr>
          <p:nvPr/>
        </p:nvSpPr>
        <p:spPr>
          <a:xfrm>
            <a:off x="5844314" y="1678823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WGS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F3ACA479-AEA3-C279-1715-52338EDDDD39}"/>
              </a:ext>
            </a:extLst>
          </p:cNvPr>
          <p:cNvCxnSpPr>
            <a:cxnSpLocks/>
            <a:stCxn id="167" idx="3"/>
            <a:endCxn id="148" idx="1"/>
          </p:cNvCxnSpPr>
          <p:nvPr/>
        </p:nvCxnSpPr>
        <p:spPr>
          <a:xfrm>
            <a:off x="6368189" y="1816936"/>
            <a:ext cx="57626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2E8DE230-A122-18C6-0880-8AB66B1C9F62}"/>
              </a:ext>
            </a:extLst>
          </p:cNvPr>
          <p:cNvSpPr txBox="1"/>
          <p:nvPr/>
        </p:nvSpPr>
        <p:spPr>
          <a:xfrm>
            <a:off x="5262813" y="1486438"/>
            <a:ext cx="523875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1200°C</a:t>
            </a:r>
          </a:p>
        </p:txBody>
      </p:sp>
      <p:cxnSp>
        <p:nvCxnSpPr>
          <p:cNvPr id="174" name="Elbow Connector 173">
            <a:extLst>
              <a:ext uri="{FF2B5EF4-FFF2-40B4-BE49-F238E27FC236}">
                <a16:creationId xmlns:a16="http://schemas.microsoft.com/office/drawing/2014/main" id="{AE056F84-ADBF-1B23-706F-0B6DF2F56966}"/>
              </a:ext>
            </a:extLst>
          </p:cNvPr>
          <p:cNvCxnSpPr>
            <a:cxnSpLocks/>
            <a:stCxn id="141" idx="1"/>
            <a:endCxn id="141" idx="2"/>
          </p:cNvCxnSpPr>
          <p:nvPr/>
        </p:nvCxnSpPr>
        <p:spPr>
          <a:xfrm rot="10800000" flipH="1" flipV="1">
            <a:off x="4681820" y="1816703"/>
            <a:ext cx="261684" cy="137881"/>
          </a:xfrm>
          <a:prstGeom prst="bentConnector4">
            <a:avLst>
              <a:gd name="adj1" fmla="val -87357"/>
              <a:gd name="adj2" fmla="val 265795"/>
            </a:avLst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A3FA1E6F-6240-1BC5-DE53-ADE7DF39A2A5}"/>
              </a:ext>
            </a:extLst>
          </p:cNvPr>
          <p:cNvSpPr txBox="1"/>
          <p:nvPr/>
        </p:nvSpPr>
        <p:spPr>
          <a:xfrm>
            <a:off x="4272135" y="2371466"/>
            <a:ext cx="3647721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u="sng" dirty="0"/>
              <a:t>ATR reactions</a:t>
            </a:r>
          </a:p>
          <a:p>
            <a:r>
              <a:rPr lang="en-GB" sz="1100" dirty="0" err="1"/>
              <a:t>POx</a:t>
            </a:r>
            <a:r>
              <a:rPr lang="en-GB" sz="1100" dirty="0"/>
              <a:t>: CH</a:t>
            </a:r>
            <a:r>
              <a:rPr lang="en-GB" sz="1100" baseline="-25000" dirty="0">
                <a:effectLst/>
              </a:rPr>
              <a:t>4</a:t>
            </a:r>
            <a:r>
              <a:rPr lang="en-GB" sz="1100" dirty="0"/>
              <a:t>​ + 2 O</a:t>
            </a:r>
            <a:r>
              <a:rPr lang="en-GB" sz="1100" baseline="-25000" dirty="0">
                <a:effectLst/>
              </a:rPr>
              <a:t>2</a:t>
            </a:r>
            <a:r>
              <a:rPr lang="en-GB" sz="1100" dirty="0"/>
              <a:t>​ → CO</a:t>
            </a:r>
            <a:r>
              <a:rPr lang="en-GB" sz="1100" baseline="-25000" dirty="0">
                <a:effectLst/>
              </a:rPr>
              <a:t>2</a:t>
            </a:r>
            <a:r>
              <a:rPr lang="en-GB" sz="1100" dirty="0"/>
              <a:t>​ + 2 H</a:t>
            </a:r>
            <a:r>
              <a:rPr lang="en-GB" sz="1100" baseline="-25000" dirty="0">
                <a:effectLst/>
              </a:rPr>
              <a:t>2</a:t>
            </a:r>
            <a:r>
              <a:rPr lang="en-GB" sz="1100" dirty="0"/>
              <a:t>​O (</a:t>
            </a:r>
            <a:r>
              <a:rPr lang="el-GR" sz="1100" dirty="0"/>
              <a:t>Δ</a:t>
            </a:r>
            <a:r>
              <a:rPr lang="en-GB" sz="1100" dirty="0"/>
              <a:t>H = -806 kJ/mol)</a:t>
            </a:r>
          </a:p>
          <a:p>
            <a:r>
              <a:rPr lang="en-GB" sz="1100" dirty="0"/>
              <a:t>SMR: CH</a:t>
            </a:r>
            <a:r>
              <a:rPr lang="en-GB" sz="1100" baseline="-25000" dirty="0"/>
              <a:t>4</a:t>
            </a:r>
            <a:r>
              <a:rPr lang="en-GB" sz="1100" dirty="0"/>
              <a:t>​ + H</a:t>
            </a:r>
            <a:r>
              <a:rPr lang="en-GB" sz="1100" baseline="-25000" dirty="0"/>
              <a:t>2</a:t>
            </a:r>
            <a:r>
              <a:rPr lang="en-GB" sz="1100" dirty="0"/>
              <a:t>​O ⇌ CO + 3 H</a:t>
            </a:r>
            <a:r>
              <a:rPr lang="en-GB" sz="1100" baseline="-25000" dirty="0"/>
              <a:t>2</a:t>
            </a:r>
            <a:r>
              <a:rPr lang="en-GB" sz="1100" dirty="0"/>
              <a:t>​ (</a:t>
            </a:r>
            <a:r>
              <a:rPr lang="el-GR" sz="1100" dirty="0"/>
              <a:t>Δ</a:t>
            </a:r>
            <a:r>
              <a:rPr lang="en-GB" sz="1100" dirty="0"/>
              <a:t>H = 233 kJ/mol)</a:t>
            </a:r>
          </a:p>
          <a:p>
            <a:r>
              <a:rPr lang="en-GB" sz="1100" u="sng" dirty="0"/>
              <a:t>Why two reactors?</a:t>
            </a:r>
            <a:br>
              <a:rPr lang="en-GB" sz="1100" dirty="0"/>
            </a:br>
            <a:r>
              <a:rPr lang="en-GB" sz="1100" dirty="0"/>
              <a:t>Enough O</a:t>
            </a:r>
            <a:r>
              <a:rPr lang="en-GB" sz="1100" baseline="-25000" dirty="0"/>
              <a:t>2</a:t>
            </a:r>
            <a:r>
              <a:rPr lang="en-GB" sz="1100" dirty="0"/>
              <a:t> for heat balance = 0 leads to too much N</a:t>
            </a:r>
            <a:r>
              <a:rPr lang="en-GB" sz="1100" baseline="-25000" dirty="0"/>
              <a:t>2</a:t>
            </a:r>
            <a:r>
              <a:rPr lang="en-GB" sz="1100" dirty="0"/>
              <a:t> (air: 80% N</a:t>
            </a:r>
            <a:r>
              <a:rPr lang="en-GB" sz="1100" baseline="-25000" dirty="0"/>
              <a:t>2</a:t>
            </a:r>
            <a:r>
              <a:rPr lang="en-GB" sz="1100" dirty="0"/>
              <a:t>) for a 3:1 ratio</a:t>
            </a:r>
          </a:p>
          <a:p>
            <a:r>
              <a:rPr lang="en-GB" sz="1100" u="sng" dirty="0"/>
              <a:t>Why no external heating of ATR instead of more air?</a:t>
            </a:r>
          </a:p>
          <a:p>
            <a:r>
              <a:rPr lang="en-GB" sz="1100" dirty="0"/>
              <a:t>Constraint by adiabatic reactor design (refractory lining)</a:t>
            </a:r>
          </a:p>
          <a:p>
            <a:r>
              <a:rPr lang="en-GB" sz="1100" u="sng" dirty="0"/>
              <a:t>Why not air in SMR?</a:t>
            </a:r>
          </a:p>
          <a:p>
            <a:r>
              <a:rPr lang="en-GB" sz="1100" dirty="0"/>
              <a:t>Material constraints: Exothermic reaction leads to too high temperatures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4F1D1840-0F60-9C3D-9A25-4E09EA5831A4}"/>
              </a:ext>
            </a:extLst>
          </p:cNvPr>
          <p:cNvCxnSpPr>
            <a:cxnSpLocks/>
          </p:cNvCxnSpPr>
          <p:nvPr/>
        </p:nvCxnSpPr>
        <p:spPr>
          <a:xfrm flipV="1">
            <a:off x="4315243" y="4952470"/>
            <a:ext cx="366577" cy="463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DE0BFBC-7DFF-812E-393B-27F93DC638FB}"/>
              </a:ext>
            </a:extLst>
          </p:cNvPr>
          <p:cNvSpPr>
            <a:spLocks/>
          </p:cNvSpPr>
          <p:nvPr/>
        </p:nvSpPr>
        <p:spPr>
          <a:xfrm>
            <a:off x="4681820" y="4814589"/>
            <a:ext cx="523368" cy="275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b="1" dirty="0" err="1"/>
              <a:t>eATR</a:t>
            </a:r>
            <a:endParaRPr lang="en-GB" sz="1100" b="1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DA28EED5-2173-397A-D2C9-81F056E9722A}"/>
              </a:ext>
            </a:extLst>
          </p:cNvPr>
          <p:cNvSpPr>
            <a:spLocks/>
          </p:cNvSpPr>
          <p:nvPr/>
        </p:nvSpPr>
        <p:spPr>
          <a:xfrm>
            <a:off x="7007315" y="4814589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Meth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FCD94D60-97D8-9575-B3B3-E7FF0CC24760}"/>
              </a:ext>
            </a:extLst>
          </p:cNvPr>
          <p:cNvCxnSpPr>
            <a:cxnSpLocks/>
            <a:stCxn id="185" idx="3"/>
            <a:endCxn id="195" idx="1"/>
          </p:cNvCxnSpPr>
          <p:nvPr/>
        </p:nvCxnSpPr>
        <p:spPr>
          <a:xfrm>
            <a:off x="5205188" y="4952470"/>
            <a:ext cx="639126" cy="23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95AD8D7F-82CC-CCD1-0124-6F60A17BBF8A}"/>
              </a:ext>
            </a:extLst>
          </p:cNvPr>
          <p:cNvCxnSpPr>
            <a:cxnSpLocks/>
            <a:stCxn id="187" idx="3"/>
          </p:cNvCxnSpPr>
          <p:nvPr/>
        </p:nvCxnSpPr>
        <p:spPr>
          <a:xfrm>
            <a:off x="7531190" y="4952702"/>
            <a:ext cx="366577" cy="23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23ACAE6F-ADDF-CC62-2AFA-921502AAD460}"/>
              </a:ext>
            </a:extLst>
          </p:cNvPr>
          <p:cNvCxnSpPr>
            <a:cxnSpLocks/>
            <a:stCxn id="191" idx="3"/>
            <a:endCxn id="187" idx="1"/>
          </p:cNvCxnSpPr>
          <p:nvPr/>
        </p:nvCxnSpPr>
        <p:spPr>
          <a:xfrm>
            <a:off x="6949690" y="4952702"/>
            <a:ext cx="5762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2BF449D1-F202-5311-6BC4-D7D151459583}"/>
              </a:ext>
            </a:extLst>
          </p:cNvPr>
          <p:cNvCxnSpPr>
            <a:cxnSpLocks/>
            <a:stCxn id="191" idx="0"/>
          </p:cNvCxnSpPr>
          <p:nvPr/>
        </p:nvCxnSpPr>
        <p:spPr>
          <a:xfrm flipV="1">
            <a:off x="6687753" y="4622204"/>
            <a:ext cx="0" cy="192385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093CD5E-EE4A-7335-0080-044A53BFF1A3}"/>
              </a:ext>
            </a:extLst>
          </p:cNvPr>
          <p:cNvSpPr>
            <a:spLocks/>
          </p:cNvSpPr>
          <p:nvPr/>
        </p:nvSpPr>
        <p:spPr>
          <a:xfrm>
            <a:off x="5844314" y="4814589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WGS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2B6E883A-6E73-F1C0-9B0F-BE747C65E049}"/>
              </a:ext>
            </a:extLst>
          </p:cNvPr>
          <p:cNvCxnSpPr>
            <a:cxnSpLocks/>
            <a:stCxn id="195" idx="3"/>
            <a:endCxn id="191" idx="1"/>
          </p:cNvCxnSpPr>
          <p:nvPr/>
        </p:nvCxnSpPr>
        <p:spPr>
          <a:xfrm>
            <a:off x="6368189" y="4952702"/>
            <a:ext cx="57626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E25315D0-E99B-A39B-8318-2A581CAAF3FB}"/>
              </a:ext>
            </a:extLst>
          </p:cNvPr>
          <p:cNvCxnSpPr>
            <a:cxnSpLocks/>
            <a:endCxn id="185" idx="2"/>
          </p:cNvCxnSpPr>
          <p:nvPr/>
        </p:nvCxnSpPr>
        <p:spPr>
          <a:xfrm flipV="1">
            <a:off x="4943504" y="5090351"/>
            <a:ext cx="0" cy="427358"/>
          </a:xfrm>
          <a:prstGeom prst="straightConnector1">
            <a:avLst/>
          </a:prstGeom>
          <a:ln w="25400">
            <a:solidFill>
              <a:srgbClr val="71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9D7E441E-315D-0A20-1D99-A2A7AF0D29EE}"/>
              </a:ext>
            </a:extLst>
          </p:cNvPr>
          <p:cNvSpPr txBox="1"/>
          <p:nvPr/>
        </p:nvSpPr>
        <p:spPr>
          <a:xfrm>
            <a:off x="5850929" y="5102741"/>
            <a:ext cx="1673646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b="1" dirty="0"/>
              <a:t>CC-unit already in conventional process!</a:t>
            </a: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8FD4F5A6-79CF-1B09-C33C-7A1F1898EDD7}"/>
              </a:ext>
            </a:extLst>
          </p:cNvPr>
          <p:cNvSpPr/>
          <p:nvPr/>
        </p:nvSpPr>
        <p:spPr>
          <a:xfrm>
            <a:off x="4801479" y="1205659"/>
            <a:ext cx="281880" cy="28188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/>
              <a:t>HX</a:t>
            </a: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A90AE44B-3A97-F018-B303-F8C48EB4D950}"/>
              </a:ext>
            </a:extLst>
          </p:cNvPr>
          <p:cNvCxnSpPr>
            <a:cxnSpLocks/>
            <a:stCxn id="141" idx="0"/>
            <a:endCxn id="216" idx="4"/>
          </p:cNvCxnSpPr>
          <p:nvPr/>
        </p:nvCxnSpPr>
        <p:spPr>
          <a:xfrm flipH="1" flipV="1">
            <a:off x="4942419" y="1487539"/>
            <a:ext cx="1085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3EC2D1D5-004C-B308-54A8-E827A83D0270}"/>
              </a:ext>
            </a:extLst>
          </p:cNvPr>
          <p:cNvCxnSpPr>
            <a:cxnSpLocks/>
            <a:stCxn id="216" idx="0"/>
          </p:cNvCxnSpPr>
          <p:nvPr/>
        </p:nvCxnSpPr>
        <p:spPr>
          <a:xfrm flipV="1">
            <a:off x="4942419" y="1014375"/>
            <a:ext cx="0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D0424F63-649D-975E-6687-00A136FBD003}"/>
              </a:ext>
            </a:extLst>
          </p:cNvPr>
          <p:cNvCxnSpPr>
            <a:cxnSpLocks/>
            <a:endCxn id="216" idx="6"/>
          </p:cNvCxnSpPr>
          <p:nvPr/>
        </p:nvCxnSpPr>
        <p:spPr>
          <a:xfrm flipH="1">
            <a:off x="5083359" y="1346599"/>
            <a:ext cx="192107" cy="0"/>
          </a:xfrm>
          <a:prstGeom prst="straightConnector1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Elbow Connector 219">
            <a:extLst>
              <a:ext uri="{FF2B5EF4-FFF2-40B4-BE49-F238E27FC236}">
                <a16:creationId xmlns:a16="http://schemas.microsoft.com/office/drawing/2014/main" id="{963E2CDD-5747-80DD-6215-B7C46CE96F38}"/>
              </a:ext>
            </a:extLst>
          </p:cNvPr>
          <p:cNvCxnSpPr>
            <a:cxnSpLocks/>
            <a:stCxn id="216" idx="2"/>
          </p:cNvCxnSpPr>
          <p:nvPr/>
        </p:nvCxnSpPr>
        <p:spPr>
          <a:xfrm rot="10800000">
            <a:off x="4721137" y="1020763"/>
            <a:ext cx="80343" cy="325836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Elbow Connector 220">
            <a:extLst>
              <a:ext uri="{FF2B5EF4-FFF2-40B4-BE49-F238E27FC236}">
                <a16:creationId xmlns:a16="http://schemas.microsoft.com/office/drawing/2014/main" id="{0BFC21DC-D9B2-158E-437F-235EF3C72EFF}"/>
              </a:ext>
            </a:extLst>
          </p:cNvPr>
          <p:cNvCxnSpPr>
            <a:cxnSpLocks/>
            <a:stCxn id="216" idx="2"/>
            <a:endCxn id="141" idx="1"/>
          </p:cNvCxnSpPr>
          <p:nvPr/>
        </p:nvCxnSpPr>
        <p:spPr>
          <a:xfrm rot="10800000" flipV="1">
            <a:off x="4681821" y="1346598"/>
            <a:ext cx="119659" cy="470105"/>
          </a:xfrm>
          <a:prstGeom prst="bentConnector3">
            <a:avLst>
              <a:gd name="adj1" fmla="val 194595"/>
            </a:avLst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itel 4">
            <a:extLst>
              <a:ext uri="{FF2B5EF4-FFF2-40B4-BE49-F238E27FC236}">
                <a16:creationId xmlns:a16="http://schemas.microsoft.com/office/drawing/2014/main" id="{D7578003-7209-8ADB-62FA-7187401D5C20}"/>
              </a:ext>
            </a:extLst>
          </p:cNvPr>
          <p:cNvSpPr txBox="1">
            <a:spLocks/>
          </p:cNvSpPr>
          <p:nvPr/>
        </p:nvSpPr>
        <p:spPr>
          <a:xfrm>
            <a:off x="5391411" y="1020763"/>
            <a:ext cx="14272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900" dirty="0"/>
              <a:t>Ammonia</a:t>
            </a:r>
          </a:p>
        </p:txBody>
      </p:sp>
      <p:sp>
        <p:nvSpPr>
          <p:cNvPr id="236" name="Titel 4">
            <a:extLst>
              <a:ext uri="{FF2B5EF4-FFF2-40B4-BE49-F238E27FC236}">
                <a16:creationId xmlns:a16="http://schemas.microsoft.com/office/drawing/2014/main" id="{D122DFD4-FA39-C093-2FCD-666412C35FCF}"/>
              </a:ext>
            </a:extLst>
          </p:cNvPr>
          <p:cNvSpPr txBox="1">
            <a:spLocks/>
          </p:cNvSpPr>
          <p:nvPr/>
        </p:nvSpPr>
        <p:spPr>
          <a:xfrm>
            <a:off x="9030120" y="1020763"/>
            <a:ext cx="14272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900" dirty="0"/>
              <a:t>Methanol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DCE1497D-90DD-BFB6-897A-A778A9ED81C8}"/>
              </a:ext>
            </a:extLst>
          </p:cNvPr>
          <p:cNvSpPr txBox="1"/>
          <p:nvPr/>
        </p:nvSpPr>
        <p:spPr>
          <a:xfrm>
            <a:off x="667668" y="1590722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NG</a:t>
            </a:r>
            <a:endParaRPr lang="en-GB" sz="1100" baseline="-250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09A1D2F-3056-BFEC-5DB8-30559C89F3DF}"/>
              </a:ext>
            </a:extLst>
          </p:cNvPr>
          <p:cNvSpPr txBox="1"/>
          <p:nvPr/>
        </p:nvSpPr>
        <p:spPr>
          <a:xfrm>
            <a:off x="667668" y="1148968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steam</a:t>
            </a:r>
            <a:endParaRPr lang="en-GB" sz="1100" baseline="-250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F58A7B2-9A0A-270A-9F62-FA30A3EBEE16}"/>
              </a:ext>
            </a:extLst>
          </p:cNvPr>
          <p:cNvSpPr txBox="1"/>
          <p:nvPr/>
        </p:nvSpPr>
        <p:spPr>
          <a:xfrm>
            <a:off x="4315243" y="1148968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steam</a:t>
            </a:r>
            <a:endParaRPr lang="en-GB" sz="1100" baseline="-250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E163F2C-34A8-3E27-FDDD-616884FA8559}"/>
              </a:ext>
            </a:extLst>
          </p:cNvPr>
          <p:cNvSpPr txBox="1"/>
          <p:nvPr/>
        </p:nvSpPr>
        <p:spPr>
          <a:xfrm>
            <a:off x="4315243" y="1590722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NG</a:t>
            </a:r>
            <a:endParaRPr lang="en-GB" sz="1100" baseline="-250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7DA61C0B-EC06-B09D-0303-8DCAB815F0CF}"/>
              </a:ext>
            </a:extLst>
          </p:cNvPr>
          <p:cNvSpPr txBox="1"/>
          <p:nvPr/>
        </p:nvSpPr>
        <p:spPr>
          <a:xfrm>
            <a:off x="4315243" y="4465084"/>
            <a:ext cx="49441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steam</a:t>
            </a:r>
            <a:endParaRPr lang="en-GB" sz="1100" baseline="-250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5A533BA3-F134-D6E6-C393-9D49E6EBCEF2}"/>
              </a:ext>
            </a:extLst>
          </p:cNvPr>
          <p:cNvSpPr txBox="1"/>
          <p:nvPr/>
        </p:nvSpPr>
        <p:spPr>
          <a:xfrm>
            <a:off x="4315243" y="4730413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NG</a:t>
            </a:r>
            <a:endParaRPr lang="en-GB" sz="1100" baseline="-250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023711F1-340B-FC45-39A2-038618B61A5E}"/>
              </a:ext>
            </a:extLst>
          </p:cNvPr>
          <p:cNvSpPr>
            <a:spLocks/>
          </p:cNvSpPr>
          <p:nvPr/>
        </p:nvSpPr>
        <p:spPr>
          <a:xfrm>
            <a:off x="8321548" y="1678823"/>
            <a:ext cx="523368" cy="275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/>
              <a:t>SMR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3122DE5-371F-77EE-FD90-9DA1EEC43DFD}"/>
              </a:ext>
            </a:extLst>
          </p:cNvPr>
          <p:cNvSpPr>
            <a:spLocks/>
          </p:cNvSpPr>
          <p:nvPr/>
        </p:nvSpPr>
        <p:spPr>
          <a:xfrm>
            <a:off x="9871709" y="1678823"/>
            <a:ext cx="523875" cy="2762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ATR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2D14A523-1E1B-1518-37B7-73808EEE9689}"/>
              </a:ext>
            </a:extLst>
          </p:cNvPr>
          <p:cNvSpPr>
            <a:spLocks/>
          </p:cNvSpPr>
          <p:nvPr/>
        </p:nvSpPr>
        <p:spPr>
          <a:xfrm>
            <a:off x="10647043" y="1678823"/>
            <a:ext cx="523875" cy="2762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CC</a:t>
            </a:r>
          </a:p>
        </p:txBody>
      </p: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F1B16ABC-D0DE-359C-44F2-2F9D3BE0B2E3}"/>
              </a:ext>
            </a:extLst>
          </p:cNvPr>
          <p:cNvCxnSpPr>
            <a:cxnSpLocks/>
            <a:stCxn id="267" idx="3"/>
            <a:endCxn id="268" idx="1"/>
          </p:cNvCxnSpPr>
          <p:nvPr/>
        </p:nvCxnSpPr>
        <p:spPr>
          <a:xfrm>
            <a:off x="8844916" y="1816704"/>
            <a:ext cx="1026793" cy="23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7180AA56-D5A1-E93F-EF81-C1A98E397CA3}"/>
              </a:ext>
            </a:extLst>
          </p:cNvPr>
          <p:cNvCxnSpPr>
            <a:cxnSpLocks/>
            <a:stCxn id="268" idx="3"/>
            <a:endCxn id="269" idx="1"/>
          </p:cNvCxnSpPr>
          <p:nvPr/>
        </p:nvCxnSpPr>
        <p:spPr>
          <a:xfrm>
            <a:off x="10395584" y="1816936"/>
            <a:ext cx="25145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Elbow Connector 272">
            <a:extLst>
              <a:ext uri="{FF2B5EF4-FFF2-40B4-BE49-F238E27FC236}">
                <a16:creationId xmlns:a16="http://schemas.microsoft.com/office/drawing/2014/main" id="{131034E4-86C7-B74D-9772-B11911AD9D69}"/>
              </a:ext>
            </a:extLst>
          </p:cNvPr>
          <p:cNvCxnSpPr>
            <a:cxnSpLocks/>
            <a:stCxn id="267" idx="2"/>
            <a:endCxn id="268" idx="1"/>
          </p:cNvCxnSpPr>
          <p:nvPr/>
        </p:nvCxnSpPr>
        <p:spPr>
          <a:xfrm rot="5400000" flipH="1" flipV="1">
            <a:off x="9158645" y="1241522"/>
            <a:ext cx="137649" cy="1288477"/>
          </a:xfrm>
          <a:prstGeom prst="bentConnector4">
            <a:avLst>
              <a:gd name="adj1" fmla="val -166075"/>
              <a:gd name="adj2" fmla="val 60155"/>
            </a:avLst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D73C768A-FCE0-90CD-D25D-AA925AE8B864}"/>
              </a:ext>
            </a:extLst>
          </p:cNvPr>
          <p:cNvCxnSpPr>
            <a:cxnSpLocks/>
            <a:stCxn id="269" idx="3"/>
          </p:cNvCxnSpPr>
          <p:nvPr/>
        </p:nvCxnSpPr>
        <p:spPr>
          <a:xfrm>
            <a:off x="11170918" y="1816936"/>
            <a:ext cx="366577" cy="23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705FD583-29E5-E05F-0821-F5803BD9FC9C}"/>
              </a:ext>
            </a:extLst>
          </p:cNvPr>
          <p:cNvCxnSpPr>
            <a:cxnSpLocks/>
            <a:endCxn id="267" idx="1"/>
          </p:cNvCxnSpPr>
          <p:nvPr/>
        </p:nvCxnSpPr>
        <p:spPr>
          <a:xfrm flipV="1">
            <a:off x="7954971" y="1816704"/>
            <a:ext cx="366577" cy="463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Oval 275">
            <a:extLst>
              <a:ext uri="{FF2B5EF4-FFF2-40B4-BE49-F238E27FC236}">
                <a16:creationId xmlns:a16="http://schemas.microsoft.com/office/drawing/2014/main" id="{00CCD242-7563-2FFA-0861-5D699E251BBC}"/>
              </a:ext>
            </a:extLst>
          </p:cNvPr>
          <p:cNvSpPr/>
          <p:nvPr/>
        </p:nvSpPr>
        <p:spPr>
          <a:xfrm>
            <a:off x="8442292" y="1205659"/>
            <a:ext cx="281880" cy="28188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/>
              <a:t>HX</a:t>
            </a:r>
          </a:p>
        </p:txBody>
      </p: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59F8F614-97DF-9920-6BE7-1F1786BC9927}"/>
              </a:ext>
            </a:extLst>
          </p:cNvPr>
          <p:cNvCxnSpPr>
            <a:cxnSpLocks/>
            <a:stCxn id="267" idx="0"/>
            <a:endCxn id="276" idx="4"/>
          </p:cNvCxnSpPr>
          <p:nvPr/>
        </p:nvCxnSpPr>
        <p:spPr>
          <a:xfrm flipV="1">
            <a:off x="8583232" y="1487539"/>
            <a:ext cx="0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AC119437-6CC1-399E-27F1-3547A69351F6}"/>
              </a:ext>
            </a:extLst>
          </p:cNvPr>
          <p:cNvCxnSpPr>
            <a:cxnSpLocks/>
            <a:stCxn id="276" idx="0"/>
          </p:cNvCxnSpPr>
          <p:nvPr/>
        </p:nvCxnSpPr>
        <p:spPr>
          <a:xfrm flipV="1">
            <a:off x="8583232" y="1014375"/>
            <a:ext cx="0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3703BCF8-268A-6759-EC7B-898167E89D12}"/>
              </a:ext>
            </a:extLst>
          </p:cNvPr>
          <p:cNvCxnSpPr>
            <a:cxnSpLocks/>
            <a:endCxn id="276" idx="6"/>
          </p:cNvCxnSpPr>
          <p:nvPr/>
        </p:nvCxnSpPr>
        <p:spPr>
          <a:xfrm flipH="1">
            <a:off x="8724172" y="1346599"/>
            <a:ext cx="192107" cy="0"/>
          </a:xfrm>
          <a:prstGeom prst="straightConnector1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Elbow Connector 279">
            <a:extLst>
              <a:ext uri="{FF2B5EF4-FFF2-40B4-BE49-F238E27FC236}">
                <a16:creationId xmlns:a16="http://schemas.microsoft.com/office/drawing/2014/main" id="{588BA7CC-2B7E-9B05-FFCE-C6FB775C68A5}"/>
              </a:ext>
            </a:extLst>
          </p:cNvPr>
          <p:cNvCxnSpPr>
            <a:cxnSpLocks/>
            <a:stCxn id="276" idx="2"/>
          </p:cNvCxnSpPr>
          <p:nvPr/>
        </p:nvCxnSpPr>
        <p:spPr>
          <a:xfrm rot="10800000">
            <a:off x="8364372" y="1020763"/>
            <a:ext cx="77920" cy="325836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86A3708F-2773-1ECF-A4ED-9D49DFA0FEA5}"/>
              </a:ext>
            </a:extLst>
          </p:cNvPr>
          <p:cNvSpPr>
            <a:spLocks/>
          </p:cNvSpPr>
          <p:nvPr/>
        </p:nvSpPr>
        <p:spPr>
          <a:xfrm>
            <a:off x="9096882" y="4808622"/>
            <a:ext cx="523368" cy="2757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/>
              <a:t>e2MR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B831F020-7BC9-1021-FDC7-C579E7F9D954}"/>
              </a:ext>
            </a:extLst>
          </p:cNvPr>
          <p:cNvCxnSpPr>
            <a:cxnSpLocks/>
            <a:stCxn id="281" idx="3"/>
            <a:endCxn id="288" idx="1"/>
          </p:cNvCxnSpPr>
          <p:nvPr/>
        </p:nvCxnSpPr>
        <p:spPr>
          <a:xfrm>
            <a:off x="9620250" y="4946503"/>
            <a:ext cx="1026793" cy="23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Rectangle 287">
            <a:extLst>
              <a:ext uri="{FF2B5EF4-FFF2-40B4-BE49-F238E27FC236}">
                <a16:creationId xmlns:a16="http://schemas.microsoft.com/office/drawing/2014/main" id="{55788C93-6DA5-15E6-C20E-D2F820B9CC9E}"/>
              </a:ext>
            </a:extLst>
          </p:cNvPr>
          <p:cNvSpPr>
            <a:spLocks/>
          </p:cNvSpPr>
          <p:nvPr/>
        </p:nvSpPr>
        <p:spPr>
          <a:xfrm>
            <a:off x="10647043" y="4808622"/>
            <a:ext cx="523875" cy="2762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CC</a:t>
            </a:r>
            <a:endParaRPr lang="en-GB" sz="1100" dirty="0"/>
          </a:p>
        </p:txBody>
      </p: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079C74BC-3524-3630-1DC5-15FD64EDFB2D}"/>
              </a:ext>
            </a:extLst>
          </p:cNvPr>
          <p:cNvCxnSpPr>
            <a:cxnSpLocks/>
            <a:endCxn id="281" idx="2"/>
          </p:cNvCxnSpPr>
          <p:nvPr/>
        </p:nvCxnSpPr>
        <p:spPr>
          <a:xfrm flipV="1">
            <a:off x="9358566" y="5084384"/>
            <a:ext cx="0" cy="433325"/>
          </a:xfrm>
          <a:prstGeom prst="straightConnector1">
            <a:avLst/>
          </a:prstGeom>
          <a:ln w="25400">
            <a:solidFill>
              <a:srgbClr val="71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Elbow Connector 291">
            <a:extLst>
              <a:ext uri="{FF2B5EF4-FFF2-40B4-BE49-F238E27FC236}">
                <a16:creationId xmlns:a16="http://schemas.microsoft.com/office/drawing/2014/main" id="{1DECBC6B-8D6C-D427-20D9-4B60F1310564}"/>
              </a:ext>
            </a:extLst>
          </p:cNvPr>
          <p:cNvCxnSpPr>
            <a:cxnSpLocks/>
            <a:stCxn id="276" idx="2"/>
            <a:endCxn id="267" idx="1"/>
          </p:cNvCxnSpPr>
          <p:nvPr/>
        </p:nvCxnSpPr>
        <p:spPr>
          <a:xfrm rot="10800000" flipV="1">
            <a:off x="8321548" y="1346598"/>
            <a:ext cx="120744" cy="470105"/>
          </a:xfrm>
          <a:prstGeom prst="bentConnector3">
            <a:avLst>
              <a:gd name="adj1" fmla="val 201097"/>
            </a:avLst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Elbow Connector 294">
            <a:extLst>
              <a:ext uri="{FF2B5EF4-FFF2-40B4-BE49-F238E27FC236}">
                <a16:creationId xmlns:a16="http://schemas.microsoft.com/office/drawing/2014/main" id="{9A97AD32-16E4-6483-81E0-8DCB50F5C7E3}"/>
              </a:ext>
            </a:extLst>
          </p:cNvPr>
          <p:cNvCxnSpPr>
            <a:cxnSpLocks/>
            <a:stCxn id="300" idx="2"/>
            <a:endCxn id="281" idx="1"/>
          </p:cNvCxnSpPr>
          <p:nvPr/>
        </p:nvCxnSpPr>
        <p:spPr>
          <a:xfrm rot="16200000" flipH="1">
            <a:off x="8619153" y="4468774"/>
            <a:ext cx="545466" cy="409991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E988FDF4-C1D6-4893-8BAE-25BCF71D8F69}"/>
              </a:ext>
            </a:extLst>
          </p:cNvPr>
          <p:cNvSpPr txBox="1"/>
          <p:nvPr/>
        </p:nvSpPr>
        <p:spPr>
          <a:xfrm>
            <a:off x="7954971" y="1590722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NG</a:t>
            </a:r>
            <a:endParaRPr lang="en-GB" sz="1100" baseline="-25000" dirty="0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DA0413FF-E6AC-D48A-5F7B-E7D261634AEF}"/>
              </a:ext>
            </a:extLst>
          </p:cNvPr>
          <p:cNvSpPr txBox="1"/>
          <p:nvPr/>
        </p:nvSpPr>
        <p:spPr>
          <a:xfrm>
            <a:off x="7954971" y="4557211"/>
            <a:ext cx="52387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NG</a:t>
            </a:r>
            <a:br>
              <a:rPr lang="en-GB" sz="1100" dirty="0"/>
            </a:br>
            <a:r>
              <a:rPr lang="en-GB" sz="1100" dirty="0"/>
              <a:t>CO</a:t>
            </a:r>
            <a:r>
              <a:rPr lang="en-GB" sz="1100" baseline="-25000" dirty="0"/>
              <a:t>2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FEB0E967-5AC5-54FE-2784-445D1AC18CE2}"/>
              </a:ext>
            </a:extLst>
          </p:cNvPr>
          <p:cNvSpPr txBox="1"/>
          <p:nvPr/>
        </p:nvSpPr>
        <p:spPr>
          <a:xfrm>
            <a:off x="7954971" y="1148968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steam</a:t>
            </a:r>
            <a:endParaRPr lang="en-GB" sz="1100" baseline="-25000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5C39E5F5-C700-0A07-C24E-D8CACE466885}"/>
              </a:ext>
            </a:extLst>
          </p:cNvPr>
          <p:cNvSpPr txBox="1"/>
          <p:nvPr/>
        </p:nvSpPr>
        <p:spPr>
          <a:xfrm>
            <a:off x="8439683" y="4231760"/>
            <a:ext cx="49441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steam</a:t>
            </a:r>
            <a:endParaRPr lang="en-GB" sz="1100" baseline="-25000" dirty="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3C25ED57-55DC-C2B7-1413-A4C247A024E5}"/>
              </a:ext>
            </a:extLst>
          </p:cNvPr>
          <p:cNvSpPr txBox="1"/>
          <p:nvPr/>
        </p:nvSpPr>
        <p:spPr>
          <a:xfrm>
            <a:off x="7463591" y="4557211"/>
            <a:ext cx="52387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3:1</a:t>
            </a:r>
            <a:br>
              <a:rPr lang="en-GB" sz="1100" dirty="0"/>
            </a:br>
            <a:r>
              <a:rPr lang="en-GB" sz="1100" dirty="0"/>
              <a:t>H</a:t>
            </a:r>
            <a:r>
              <a:rPr lang="en-GB" sz="1100" baseline="-25000" dirty="0"/>
              <a:t>2</a:t>
            </a:r>
            <a:r>
              <a:rPr lang="en-GB" sz="1100" dirty="0"/>
              <a:t>/N</a:t>
            </a:r>
            <a:r>
              <a:rPr lang="en-GB" sz="1100" baseline="-25000" dirty="0"/>
              <a:t>2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2BB58072-DD69-ACCA-3B01-803F7FDAE300}"/>
              </a:ext>
            </a:extLst>
          </p:cNvPr>
          <p:cNvSpPr txBox="1"/>
          <p:nvPr/>
        </p:nvSpPr>
        <p:spPr>
          <a:xfrm>
            <a:off x="7463591" y="1421445"/>
            <a:ext cx="52387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3:1</a:t>
            </a:r>
            <a:br>
              <a:rPr lang="en-GB" sz="1100" dirty="0"/>
            </a:br>
            <a:r>
              <a:rPr lang="en-GB" sz="1100" dirty="0"/>
              <a:t>H</a:t>
            </a:r>
            <a:r>
              <a:rPr lang="en-GB" sz="1100" baseline="-25000" dirty="0"/>
              <a:t>2</a:t>
            </a:r>
            <a:r>
              <a:rPr lang="en-GB" sz="1100" dirty="0"/>
              <a:t>/N</a:t>
            </a:r>
            <a:r>
              <a:rPr lang="en-GB" sz="1100" baseline="-25000" dirty="0"/>
              <a:t>2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E9E2F32D-2915-4EFF-6FE7-3568C4CA2B54}"/>
              </a:ext>
            </a:extLst>
          </p:cNvPr>
          <p:cNvSpPr txBox="1"/>
          <p:nvPr/>
        </p:nvSpPr>
        <p:spPr>
          <a:xfrm>
            <a:off x="624409" y="2617053"/>
            <a:ext cx="364771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u="sng" dirty="0"/>
              <a:t>Downsides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/>
              <a:t>Higher </a:t>
            </a:r>
            <a:r>
              <a:rPr lang="de-DE" sz="1100" dirty="0" err="1"/>
              <a:t>electricity</a:t>
            </a:r>
            <a:r>
              <a:rPr lang="de-DE" sz="1100" dirty="0"/>
              <a:t> </a:t>
            </a:r>
            <a:r>
              <a:rPr lang="de-DE" sz="1100" dirty="0" err="1"/>
              <a:t>input</a:t>
            </a:r>
            <a:endParaRPr lang="de-DE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/>
              <a:t>Additional </a:t>
            </a:r>
            <a:r>
              <a:rPr lang="de-DE" sz="1100" dirty="0" err="1"/>
              <a:t>unit</a:t>
            </a:r>
            <a:endParaRPr lang="de-DE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/>
              <a:t>Purge </a:t>
            </a:r>
            <a:r>
              <a:rPr lang="de-DE" sz="1100" dirty="0" err="1"/>
              <a:t>for</a:t>
            </a:r>
            <a:r>
              <a:rPr lang="de-DE" sz="1100" dirty="0"/>
              <a:t> </a:t>
            </a:r>
            <a:r>
              <a:rPr lang="de-DE" sz="1100" dirty="0" err="1"/>
              <a:t>avoidance</a:t>
            </a:r>
            <a:r>
              <a:rPr lang="de-DE" sz="1100" dirty="0"/>
              <a:t> </a:t>
            </a:r>
            <a:r>
              <a:rPr lang="de-DE" sz="1100" dirty="0" err="1"/>
              <a:t>of</a:t>
            </a:r>
            <a:r>
              <a:rPr lang="de-DE" sz="1100" dirty="0"/>
              <a:t> N2 </a:t>
            </a:r>
            <a:r>
              <a:rPr lang="de-DE" sz="1100" dirty="0" err="1"/>
              <a:t>enrichment</a:t>
            </a:r>
            <a:r>
              <a:rPr lang="de-DE" sz="1100" dirty="0"/>
              <a:t> in recycle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>
              <a:solidFill>
                <a:srgbClr val="FF0000"/>
              </a:solidFill>
            </a:endParaRPr>
          </a:p>
          <a:p>
            <a:r>
              <a:rPr lang="en-GB" sz="1100" u="sng" dirty="0"/>
              <a:t>Upsides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Lower NG 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Captured CO</a:t>
            </a:r>
            <a:r>
              <a:rPr lang="en-GB" sz="1100" baseline="-25000" dirty="0"/>
              <a:t>2</a:t>
            </a:r>
            <a:endParaRPr lang="en-GB" sz="11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7F6F936A-DB58-D0AB-CF21-9D42E1FE8310}"/>
              </a:ext>
            </a:extLst>
          </p:cNvPr>
          <p:cNvSpPr txBox="1"/>
          <p:nvPr/>
        </p:nvSpPr>
        <p:spPr>
          <a:xfrm>
            <a:off x="8958068" y="4378554"/>
            <a:ext cx="49441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CO</a:t>
            </a:r>
            <a:r>
              <a:rPr lang="en-GB" sz="1100" baseline="-25000" dirty="0"/>
              <a:t>2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5AFE517D-50A4-E5D5-884B-FAA04930B702}"/>
              </a:ext>
            </a:extLst>
          </p:cNvPr>
          <p:cNvSpPr txBox="1"/>
          <p:nvPr/>
        </p:nvSpPr>
        <p:spPr>
          <a:xfrm>
            <a:off x="11129428" y="4557211"/>
            <a:ext cx="52387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2:1</a:t>
            </a:r>
            <a:br>
              <a:rPr lang="en-GB" sz="1100" dirty="0"/>
            </a:br>
            <a:r>
              <a:rPr lang="en-GB" sz="1100" dirty="0"/>
              <a:t>H</a:t>
            </a:r>
            <a:r>
              <a:rPr lang="en-GB" sz="1100" baseline="-25000" dirty="0"/>
              <a:t>2</a:t>
            </a:r>
            <a:r>
              <a:rPr lang="en-GB" sz="1100" dirty="0"/>
              <a:t>/CO</a:t>
            </a:r>
            <a:endParaRPr lang="en-GB" sz="1100" baseline="-25000" dirty="0"/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60D029B4-006E-CF91-5AA8-0FFB3B4D11BA}"/>
              </a:ext>
            </a:extLst>
          </p:cNvPr>
          <p:cNvCxnSpPr>
            <a:cxnSpLocks/>
            <a:stCxn id="288" idx="3"/>
          </p:cNvCxnSpPr>
          <p:nvPr/>
        </p:nvCxnSpPr>
        <p:spPr>
          <a:xfrm flipV="1">
            <a:off x="11170918" y="4946503"/>
            <a:ext cx="366577" cy="23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Elbow Connector 285">
            <a:extLst>
              <a:ext uri="{FF2B5EF4-FFF2-40B4-BE49-F238E27FC236}">
                <a16:creationId xmlns:a16="http://schemas.microsoft.com/office/drawing/2014/main" id="{D7786182-D37A-E372-7217-821BE14403ED}"/>
              </a:ext>
            </a:extLst>
          </p:cNvPr>
          <p:cNvCxnSpPr>
            <a:cxnSpLocks/>
            <a:stCxn id="288" idx="0"/>
            <a:endCxn id="281" idx="1"/>
          </p:cNvCxnSpPr>
          <p:nvPr/>
        </p:nvCxnSpPr>
        <p:spPr>
          <a:xfrm rot="16200000" flipH="1" flipV="1">
            <a:off x="9933991" y="3971512"/>
            <a:ext cx="137881" cy="1812099"/>
          </a:xfrm>
          <a:prstGeom prst="bentConnector4">
            <a:avLst>
              <a:gd name="adj1" fmla="val -165795"/>
              <a:gd name="adj2" fmla="val 112615"/>
            </a:avLst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B8EB753F-E4D0-15E2-4D30-67A5C84DD367}"/>
              </a:ext>
            </a:extLst>
          </p:cNvPr>
          <p:cNvCxnSpPr>
            <a:cxnSpLocks/>
            <a:stCxn id="269" idx="0"/>
          </p:cNvCxnSpPr>
          <p:nvPr/>
        </p:nvCxnSpPr>
        <p:spPr>
          <a:xfrm flipH="1" flipV="1">
            <a:off x="10907328" y="1486438"/>
            <a:ext cx="1653" cy="192385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TextBox 359">
            <a:extLst>
              <a:ext uri="{FF2B5EF4-FFF2-40B4-BE49-F238E27FC236}">
                <a16:creationId xmlns:a16="http://schemas.microsoft.com/office/drawing/2014/main" id="{31373F03-20CF-EF42-3006-F816B93C2324}"/>
              </a:ext>
            </a:extLst>
          </p:cNvPr>
          <p:cNvSpPr txBox="1"/>
          <p:nvPr/>
        </p:nvSpPr>
        <p:spPr>
          <a:xfrm>
            <a:off x="11129428" y="1421445"/>
            <a:ext cx="523875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2:1</a:t>
            </a:r>
            <a:br>
              <a:rPr lang="en-GB" sz="1100" dirty="0"/>
            </a:br>
            <a:r>
              <a:rPr lang="en-GB" sz="1100" dirty="0"/>
              <a:t>H</a:t>
            </a:r>
            <a:r>
              <a:rPr lang="en-GB" sz="1100" baseline="-25000" dirty="0"/>
              <a:t>2</a:t>
            </a:r>
            <a:r>
              <a:rPr lang="en-GB" sz="1100" dirty="0"/>
              <a:t>/CO</a:t>
            </a:r>
            <a:endParaRPr lang="en-GB" sz="1100" baseline="-250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520CEDD8-5F83-D565-6E91-B5C7CE08A9B2}"/>
              </a:ext>
            </a:extLst>
          </p:cNvPr>
          <p:cNvSpPr>
            <a:spLocks/>
          </p:cNvSpPr>
          <p:nvPr/>
        </p:nvSpPr>
        <p:spPr>
          <a:xfrm>
            <a:off x="6425815" y="4814589"/>
            <a:ext cx="523875" cy="2762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CC</a:t>
            </a:r>
            <a:endParaRPr lang="en-GB" sz="11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3B464CE-F181-BD30-AAFB-962F1FFF93B6}"/>
              </a:ext>
            </a:extLst>
          </p:cNvPr>
          <p:cNvSpPr>
            <a:spLocks/>
          </p:cNvSpPr>
          <p:nvPr/>
        </p:nvSpPr>
        <p:spPr>
          <a:xfrm>
            <a:off x="6425815" y="1678823"/>
            <a:ext cx="523875" cy="27622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CC</a:t>
            </a:r>
            <a:endParaRPr lang="en-GB" sz="1100" dirty="0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E73A0ED8-E0FF-2B96-9106-0D60ADF141A2}"/>
              </a:ext>
            </a:extLst>
          </p:cNvPr>
          <p:cNvSpPr txBox="1"/>
          <p:nvPr/>
        </p:nvSpPr>
        <p:spPr>
          <a:xfrm>
            <a:off x="7919869" y="2786330"/>
            <a:ext cx="36477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u="sng" dirty="0"/>
              <a:t>Downsides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 err="1"/>
              <a:t>Less</a:t>
            </a:r>
            <a:r>
              <a:rPr lang="de-DE" sz="1100" dirty="0"/>
              <a:t> </a:t>
            </a:r>
            <a:r>
              <a:rPr lang="de-DE" sz="1100" dirty="0" err="1"/>
              <a:t>worldwide</a:t>
            </a:r>
            <a:r>
              <a:rPr lang="de-DE" sz="1100" dirty="0"/>
              <a:t> </a:t>
            </a:r>
            <a:r>
              <a:rPr lang="de-DE" sz="1100" dirty="0" err="1"/>
              <a:t>production</a:t>
            </a:r>
            <a:r>
              <a:rPr lang="de-DE" sz="1100" dirty="0"/>
              <a:t> </a:t>
            </a:r>
            <a:r>
              <a:rPr lang="de-DE" sz="1100" dirty="0" err="1"/>
              <a:t>capacity</a:t>
            </a:r>
            <a:r>
              <a:rPr lang="de-DE" sz="1100" dirty="0"/>
              <a:t> </a:t>
            </a:r>
            <a:r>
              <a:rPr lang="de-DE" sz="1100" dirty="0" err="1"/>
              <a:t>than</a:t>
            </a:r>
            <a:r>
              <a:rPr lang="de-DE" sz="1100" dirty="0"/>
              <a:t> H</a:t>
            </a:r>
            <a:r>
              <a:rPr lang="de-DE" sz="1100" baseline="-25000" dirty="0"/>
              <a:t>2</a:t>
            </a:r>
            <a:r>
              <a:rPr lang="de-DE" sz="1100" dirty="0"/>
              <a:t> and NH</a:t>
            </a:r>
            <a:r>
              <a:rPr lang="de-DE" sz="1100" baseline="-25000" dirty="0"/>
              <a:t>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100" dirty="0" err="1"/>
              <a:t>Less</a:t>
            </a:r>
            <a:r>
              <a:rPr lang="de-DE" sz="1100" dirty="0"/>
              <a:t> </a:t>
            </a:r>
            <a:r>
              <a:rPr lang="de-DE" sz="1100" dirty="0" err="1"/>
              <a:t>literature</a:t>
            </a:r>
            <a:endParaRPr lang="de-DE" sz="1100" dirty="0"/>
          </a:p>
          <a:p>
            <a:endParaRPr lang="en-GB" sz="1100" dirty="0"/>
          </a:p>
          <a:p>
            <a:r>
              <a:rPr lang="en-GB" sz="1100" u="sng" dirty="0"/>
              <a:t>Upsides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100" dirty="0"/>
              <a:t>CO</a:t>
            </a:r>
            <a:r>
              <a:rPr lang="en-GB" sz="1100" baseline="-25000" dirty="0"/>
              <a:t>2</a:t>
            </a:r>
            <a:r>
              <a:rPr lang="en-GB" sz="1100" dirty="0"/>
              <a:t>-sink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716AFDD8-566A-FEF4-77B6-7FBE0DA207FB}"/>
              </a:ext>
            </a:extLst>
          </p:cNvPr>
          <p:cNvSpPr txBox="1"/>
          <p:nvPr/>
        </p:nvSpPr>
        <p:spPr>
          <a:xfrm>
            <a:off x="2194562" y="5653165"/>
            <a:ext cx="7802868" cy="7694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sz="1100" dirty="0"/>
              <a:t>The additional unit operations required suggest </a:t>
            </a:r>
            <a:r>
              <a:rPr lang="en-GB" sz="1100" b="1" dirty="0"/>
              <a:t>hydrogen SMR</a:t>
            </a:r>
            <a:r>
              <a:rPr lang="en-GB" sz="1100" dirty="0"/>
              <a:t> to be the </a:t>
            </a:r>
            <a:r>
              <a:rPr lang="en-GB" sz="1100" b="1" dirty="0"/>
              <a:t>least competitive </a:t>
            </a:r>
            <a:r>
              <a:rPr lang="en-GB" sz="1100" dirty="0"/>
              <a:t>with conventional processes.</a:t>
            </a:r>
          </a:p>
          <a:p>
            <a:pPr algn="ctr"/>
            <a:endParaRPr lang="en-GB" sz="1100" dirty="0"/>
          </a:p>
          <a:p>
            <a:pPr algn="ctr"/>
            <a:r>
              <a:rPr lang="de-DE" sz="1100" dirty="0"/>
              <a:t>A </a:t>
            </a:r>
            <a:r>
              <a:rPr lang="de-DE" sz="1100" dirty="0" err="1"/>
              <a:t>preliminary</a:t>
            </a:r>
            <a:r>
              <a:rPr lang="de-DE" sz="1100" dirty="0"/>
              <a:t> </a:t>
            </a:r>
            <a:r>
              <a:rPr lang="de-DE" sz="1100" b="1" dirty="0"/>
              <a:t>high-level </a:t>
            </a:r>
            <a:r>
              <a:rPr lang="de-DE" sz="1100" b="1" dirty="0" err="1"/>
              <a:t>comparison</a:t>
            </a:r>
            <a:r>
              <a:rPr lang="de-DE" sz="1100" b="1" dirty="0"/>
              <a:t> </a:t>
            </a:r>
            <a:r>
              <a:rPr lang="de-DE" sz="1100" dirty="0" err="1"/>
              <a:t>of</a:t>
            </a:r>
            <a:r>
              <a:rPr lang="de-DE" sz="1100" dirty="0"/>
              <a:t> </a:t>
            </a:r>
            <a:r>
              <a:rPr lang="de-DE" sz="1100" dirty="0" err="1"/>
              <a:t>these</a:t>
            </a:r>
            <a:r>
              <a:rPr lang="de-DE" sz="1100" dirty="0"/>
              <a:t> </a:t>
            </a:r>
            <a:r>
              <a:rPr lang="de-DE" sz="1100" dirty="0" err="1"/>
              <a:t>processes</a:t>
            </a:r>
            <a:r>
              <a:rPr lang="de-DE" sz="1100" dirty="0"/>
              <a:t> </a:t>
            </a:r>
            <a:r>
              <a:rPr lang="de-DE" sz="1100" dirty="0" err="1"/>
              <a:t>is</a:t>
            </a:r>
            <a:r>
              <a:rPr lang="de-DE" sz="1100" dirty="0"/>
              <a:t> </a:t>
            </a:r>
            <a:r>
              <a:rPr lang="de-DE" sz="1100" dirty="0" err="1"/>
              <a:t>conducted</a:t>
            </a:r>
            <a:r>
              <a:rPr lang="de-DE" sz="1100" dirty="0"/>
              <a:t> </a:t>
            </a:r>
            <a:r>
              <a:rPr lang="de-DE" sz="1100" dirty="0" err="1"/>
              <a:t>under</a:t>
            </a:r>
            <a:r>
              <a:rPr lang="de-DE" sz="1100" dirty="0"/>
              <a:t> </a:t>
            </a:r>
            <a:r>
              <a:rPr lang="de-DE" sz="1100" dirty="0" err="1"/>
              <a:t>certain</a:t>
            </a:r>
            <a:r>
              <a:rPr lang="de-DE" sz="1100" dirty="0"/>
              <a:t> </a:t>
            </a:r>
            <a:r>
              <a:rPr lang="de-DE" sz="1100" dirty="0" err="1"/>
              <a:t>simplifications</a:t>
            </a:r>
            <a:r>
              <a:rPr lang="de-DE" sz="1100" dirty="0"/>
              <a:t>, </a:t>
            </a:r>
            <a:r>
              <a:rPr lang="de-DE" sz="1100" dirty="0" err="1"/>
              <a:t>assuming</a:t>
            </a:r>
            <a:r>
              <a:rPr lang="de-DE" sz="1100" dirty="0"/>
              <a:t> </a:t>
            </a:r>
            <a:r>
              <a:rPr lang="de-DE" sz="1100" dirty="0" err="1"/>
              <a:t>that</a:t>
            </a:r>
            <a:r>
              <a:rPr lang="de-DE" sz="1100" dirty="0"/>
              <a:t> </a:t>
            </a:r>
            <a:r>
              <a:rPr lang="de-DE" sz="1100" dirty="0" err="1"/>
              <a:t>any</a:t>
            </a:r>
            <a:r>
              <a:rPr lang="de-DE" sz="1100" dirty="0"/>
              <a:t> </a:t>
            </a:r>
            <a:r>
              <a:rPr lang="de-DE" sz="1100" b="1" dirty="0" err="1"/>
              <a:t>competitive</a:t>
            </a:r>
            <a:r>
              <a:rPr lang="de-DE" sz="1100" b="1" dirty="0"/>
              <a:t> potential </a:t>
            </a:r>
            <a:r>
              <a:rPr lang="de-DE" sz="1100" dirty="0" err="1"/>
              <a:t>identified</a:t>
            </a:r>
            <a:r>
              <a:rPr lang="de-DE" sz="1100" dirty="0"/>
              <a:t> </a:t>
            </a:r>
            <a:r>
              <a:rPr lang="de-DE" sz="1100" b="1" dirty="0" err="1"/>
              <a:t>applies</a:t>
            </a:r>
            <a:r>
              <a:rPr lang="de-DE" sz="1100" b="1" dirty="0"/>
              <a:t> </a:t>
            </a:r>
            <a:r>
              <a:rPr lang="de-DE" sz="1100" b="1" dirty="0" err="1"/>
              <a:t>across</a:t>
            </a:r>
            <a:r>
              <a:rPr lang="de-DE" sz="1100" b="1" dirty="0"/>
              <a:t> all </a:t>
            </a:r>
            <a:r>
              <a:rPr lang="de-DE" sz="1100" b="1" dirty="0" err="1"/>
              <a:t>processes</a:t>
            </a:r>
            <a:r>
              <a:rPr lang="de-DE" sz="1100" dirty="0"/>
              <a:t>.</a:t>
            </a:r>
            <a:endParaRPr lang="en-GB" sz="1100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1BB2F1CF-2639-4BBE-3597-240100619170}"/>
              </a:ext>
            </a:extLst>
          </p:cNvPr>
          <p:cNvSpPr txBox="1"/>
          <p:nvPr/>
        </p:nvSpPr>
        <p:spPr>
          <a:xfrm>
            <a:off x="898360" y="5373407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Elect.</a:t>
            </a:r>
            <a:endParaRPr lang="en-GB" sz="1100" baseline="-25000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53222356-15F1-AD72-70B8-8FD926232CD9}"/>
              </a:ext>
            </a:extLst>
          </p:cNvPr>
          <p:cNvSpPr txBox="1"/>
          <p:nvPr/>
        </p:nvSpPr>
        <p:spPr>
          <a:xfrm>
            <a:off x="4550724" y="5373407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Elect.</a:t>
            </a:r>
            <a:endParaRPr lang="en-GB" sz="1100" baseline="-250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EF31F861-C295-911E-C99E-90BFB2311A18}"/>
              </a:ext>
            </a:extLst>
          </p:cNvPr>
          <p:cNvSpPr txBox="1"/>
          <p:nvPr/>
        </p:nvSpPr>
        <p:spPr>
          <a:xfrm>
            <a:off x="8964052" y="5373407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Elect.</a:t>
            </a:r>
            <a:endParaRPr lang="en-GB" sz="1100" baseline="-25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F5A388D-177A-5B1F-AFAF-2C00342409D3}"/>
              </a:ext>
            </a:extLst>
          </p:cNvPr>
          <p:cNvCxnSpPr>
            <a:cxnSpLocks/>
          </p:cNvCxnSpPr>
          <p:nvPr/>
        </p:nvCxnSpPr>
        <p:spPr>
          <a:xfrm flipV="1">
            <a:off x="5524190" y="1954584"/>
            <a:ext cx="0" cy="255216"/>
          </a:xfrm>
          <a:prstGeom prst="straightConnector1">
            <a:avLst/>
          </a:prstGeom>
          <a:ln w="2540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5C4F97E-B3CB-808C-9505-8D764F276073}"/>
              </a:ext>
            </a:extLst>
          </p:cNvPr>
          <p:cNvSpPr txBox="1"/>
          <p:nvPr/>
        </p:nvSpPr>
        <p:spPr>
          <a:xfrm>
            <a:off x="5581143" y="2070952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air</a:t>
            </a:r>
            <a:endParaRPr lang="en-GB" sz="1100" baseline="-25000" dirty="0"/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28228BA5-8AEF-2D00-97A4-2384635CD54C}"/>
              </a:ext>
            </a:extLst>
          </p:cNvPr>
          <p:cNvCxnSpPr>
            <a:cxnSpLocks/>
            <a:stCxn id="22" idx="0"/>
            <a:endCxn id="185" idx="1"/>
          </p:cNvCxnSpPr>
          <p:nvPr/>
        </p:nvCxnSpPr>
        <p:spPr>
          <a:xfrm rot="5400000" flipH="1" flipV="1">
            <a:off x="4461444" y="4922756"/>
            <a:ext cx="190661" cy="250091"/>
          </a:xfrm>
          <a:prstGeom prst="bentConnector2">
            <a:avLst/>
          </a:prstGeom>
          <a:ln w="2540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0EBD724-CDCB-162A-1CB1-1B989BAEF0E2}"/>
              </a:ext>
            </a:extLst>
          </p:cNvPr>
          <p:cNvSpPr txBox="1"/>
          <p:nvPr/>
        </p:nvSpPr>
        <p:spPr>
          <a:xfrm>
            <a:off x="4315244" y="5143131"/>
            <a:ext cx="23297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air</a:t>
            </a:r>
            <a:endParaRPr lang="en-GB" sz="1100" baseline="-25000" dirty="0"/>
          </a:p>
        </p:txBody>
      </p: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DB8F0A2C-802F-A3F7-9654-BE093C66376E}"/>
              </a:ext>
            </a:extLst>
          </p:cNvPr>
          <p:cNvCxnSpPr>
            <a:cxnSpLocks/>
            <a:stCxn id="263" idx="2"/>
            <a:endCxn id="185" idx="1"/>
          </p:cNvCxnSpPr>
          <p:nvPr/>
        </p:nvCxnSpPr>
        <p:spPr>
          <a:xfrm rot="16200000" flipH="1">
            <a:off x="4463081" y="4733730"/>
            <a:ext cx="318109" cy="119369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80F5483-5FCE-477C-2D8A-AFBBDAAE12D3}"/>
              </a:ext>
            </a:extLst>
          </p:cNvPr>
          <p:cNvSpPr txBox="1"/>
          <p:nvPr/>
        </p:nvSpPr>
        <p:spPr>
          <a:xfrm>
            <a:off x="4693164" y="4647375"/>
            <a:ext cx="167364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b="1" dirty="0"/>
              <a:t>&gt;150 bar is possible! 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785174-0474-37F4-C8E5-4380288B0488}"/>
              </a:ext>
            </a:extLst>
          </p:cNvPr>
          <p:cNvSpPr/>
          <p:nvPr/>
        </p:nvSpPr>
        <p:spPr>
          <a:xfrm>
            <a:off x="1154989" y="4332602"/>
            <a:ext cx="281880" cy="28188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/>
              <a:t>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10AFF9-38D6-8266-66CF-D807B2D47F2A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295929" y="4141318"/>
            <a:ext cx="0" cy="191284"/>
          </a:xfrm>
          <a:prstGeom prst="straightConnector1">
            <a:avLst/>
          </a:prstGeom>
          <a:ln w="254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55C88E-D9CD-4ED7-6E87-54500D51574C}"/>
              </a:ext>
            </a:extLst>
          </p:cNvPr>
          <p:cNvCxnSpPr>
            <a:cxnSpLocks/>
            <a:endCxn id="9" idx="6"/>
          </p:cNvCxnSpPr>
          <p:nvPr/>
        </p:nvCxnSpPr>
        <p:spPr>
          <a:xfrm flipH="1">
            <a:off x="1436869" y="4473542"/>
            <a:ext cx="192107" cy="0"/>
          </a:xfrm>
          <a:prstGeom prst="straightConnector1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609DADC-0689-B8B9-CCAD-205AF64D5158}"/>
              </a:ext>
            </a:extLst>
          </p:cNvPr>
          <p:cNvCxnSpPr>
            <a:cxnSpLocks/>
            <a:stCxn id="9" idx="2"/>
          </p:cNvCxnSpPr>
          <p:nvPr/>
        </p:nvCxnSpPr>
        <p:spPr>
          <a:xfrm rot="10800000" flipV="1">
            <a:off x="1034245" y="4473541"/>
            <a:ext cx="120744" cy="470105"/>
          </a:xfrm>
          <a:prstGeom prst="bentConnector3">
            <a:avLst>
              <a:gd name="adj1" fmla="val 201097"/>
            </a:avLst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365943-895C-5808-E268-8CA1ED5D1AE3}"/>
              </a:ext>
            </a:extLst>
          </p:cNvPr>
          <p:cNvSpPr txBox="1"/>
          <p:nvPr/>
        </p:nvSpPr>
        <p:spPr>
          <a:xfrm>
            <a:off x="667668" y="4706090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NG</a:t>
            </a:r>
            <a:endParaRPr lang="en-GB" sz="1100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C9D54-DC36-8C9F-303C-EC89F4E7C219}"/>
              </a:ext>
            </a:extLst>
          </p:cNvPr>
          <p:cNvSpPr txBox="1"/>
          <p:nvPr/>
        </p:nvSpPr>
        <p:spPr>
          <a:xfrm>
            <a:off x="667668" y="4275911"/>
            <a:ext cx="5238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25"/>
              </a:spcBef>
              <a:buClr>
                <a:schemeClr val="accent1"/>
              </a:buClr>
            </a:pPr>
            <a:r>
              <a:rPr lang="en-GB" sz="1100" dirty="0"/>
              <a:t>steam</a:t>
            </a:r>
            <a:endParaRPr lang="en-GB" sz="1100" baseline="-25000" dirty="0"/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876124C1-DBF6-4FF9-9208-16ABEAAA4929}"/>
              </a:ext>
            </a:extLst>
          </p:cNvPr>
          <p:cNvCxnSpPr>
            <a:cxnSpLocks/>
            <a:endCxn id="9" idx="4"/>
          </p:cNvCxnSpPr>
          <p:nvPr/>
        </p:nvCxnSpPr>
        <p:spPr>
          <a:xfrm rot="16200000" flipV="1">
            <a:off x="1115590" y="4794822"/>
            <a:ext cx="693727" cy="333047"/>
          </a:xfrm>
          <a:prstGeom prst="bentConnector3">
            <a:avLst>
              <a:gd name="adj1" fmla="val 82446"/>
            </a:avLst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323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1669-6D30-A0C1-AAD0-1B289160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think-cell data - do not delete" hidden="1">
            <a:extLst>
              <a:ext uri="{FF2B5EF4-FFF2-40B4-BE49-F238E27FC236}">
                <a16:creationId xmlns:a16="http://schemas.microsoft.com/office/drawing/2014/main" id="{5AE489B5-EBCC-0560-2201-1B5C88BB187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74076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2FB6FF25-671E-2642-9C75-CBEC8C342C4D}"/>
              </a:ext>
            </a:extLst>
          </p:cNvPr>
          <p:cNvCxnSpPr>
            <a:stCxn id="9" idx="2"/>
            <a:endCxn id="6" idx="2"/>
          </p:cNvCxnSpPr>
          <p:nvPr/>
        </p:nvCxnSpPr>
        <p:spPr>
          <a:xfrm rot="10800000" flipH="1" flipV="1">
            <a:off x="1460887" y="2949833"/>
            <a:ext cx="3293012" cy="234576"/>
          </a:xfrm>
          <a:prstGeom prst="bentConnector4">
            <a:avLst>
              <a:gd name="adj1" fmla="val -6942"/>
              <a:gd name="adj2" fmla="val 357297"/>
            </a:avLst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1D907D-B333-AE37-DB71-C0A278FD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2ADD76-80DE-5C86-8DEB-9BDF3055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4172" y="6589158"/>
            <a:ext cx="353417" cy="153888"/>
          </a:xfrm>
        </p:spPr>
        <p:txBody>
          <a:bodyPr/>
          <a:lstStyle/>
          <a:p>
            <a:fld id="{9E82CC3C-1DC0-4FDA-9590-6CC506AB67F8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077CADC-4E34-9B96-E047-5FBF6258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3" y="327666"/>
            <a:ext cx="10092886" cy="333948"/>
          </a:xfrm>
        </p:spPr>
        <p:txBody>
          <a:bodyPr vert="horz" rIns="0"/>
          <a:lstStyle/>
          <a:p>
            <a:r>
              <a:rPr lang="en-US" dirty="0"/>
              <a:t>The </a:t>
            </a:r>
            <a:r>
              <a:rPr lang="en-US" dirty="0" err="1"/>
              <a:t>eSMR</a:t>
            </a:r>
            <a:r>
              <a:rPr lang="en-US" dirty="0"/>
              <a:t> process leads to an overall simplified flow scheme with reactor internal heat recovery, rather than complicated byproduct steam production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C6B10D-6829-8CB3-B3EC-8B498C5BC048}"/>
              </a:ext>
            </a:extLst>
          </p:cNvPr>
          <p:cNvSpPr>
            <a:spLocks/>
          </p:cNvSpPr>
          <p:nvPr/>
        </p:nvSpPr>
        <p:spPr>
          <a:xfrm>
            <a:off x="2153052" y="5365302"/>
            <a:ext cx="10287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NG desulph.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6BD1FD-CA36-E803-7E14-9C90144BDDFB}"/>
              </a:ext>
            </a:extLst>
          </p:cNvPr>
          <p:cNvSpPr>
            <a:spLocks/>
          </p:cNvSpPr>
          <p:nvPr/>
        </p:nvSpPr>
        <p:spPr>
          <a:xfrm>
            <a:off x="4247767" y="5365302"/>
            <a:ext cx="1028699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 err="1"/>
              <a:t>eSMR</a:t>
            </a:r>
            <a:endParaRPr lang="en-GB" sz="1100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FD9FD7-4038-EF81-80E8-EA721667C891}"/>
              </a:ext>
            </a:extLst>
          </p:cNvPr>
          <p:cNvSpPr>
            <a:spLocks/>
          </p:cNvSpPr>
          <p:nvPr/>
        </p:nvSpPr>
        <p:spPr>
          <a:xfrm>
            <a:off x="6875072" y="5365302"/>
            <a:ext cx="102870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WGS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183DB6-1383-A900-67CC-634059088C87}"/>
              </a:ext>
            </a:extLst>
          </p:cNvPr>
          <p:cNvSpPr>
            <a:spLocks/>
          </p:cNvSpPr>
          <p:nvPr/>
        </p:nvSpPr>
        <p:spPr>
          <a:xfrm>
            <a:off x="10254520" y="5365302"/>
            <a:ext cx="1028699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PSA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10E4281-9491-6E22-4845-762CF445EC9C}"/>
              </a:ext>
            </a:extLst>
          </p:cNvPr>
          <p:cNvSpPr>
            <a:spLocks/>
          </p:cNvSpPr>
          <p:nvPr/>
        </p:nvSpPr>
        <p:spPr>
          <a:xfrm>
            <a:off x="866601" y="5365302"/>
            <a:ext cx="469899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HXF1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247EC8-AAB1-BF06-3E1E-81D8CD3DBFF6}"/>
              </a:ext>
            </a:extLst>
          </p:cNvPr>
          <p:cNvCxnSpPr>
            <a:stCxn id="30" idx="6"/>
            <a:endCxn id="54" idx="2"/>
          </p:cNvCxnSpPr>
          <p:nvPr/>
        </p:nvCxnSpPr>
        <p:spPr>
          <a:xfrm>
            <a:off x="1336500" y="5593902"/>
            <a:ext cx="107951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CECD5ECC-B67E-1C63-B444-8266DEDC8800}"/>
              </a:ext>
            </a:extLst>
          </p:cNvPr>
          <p:cNvSpPr>
            <a:spLocks/>
          </p:cNvSpPr>
          <p:nvPr/>
        </p:nvSpPr>
        <p:spPr>
          <a:xfrm>
            <a:off x="3532887" y="5365302"/>
            <a:ext cx="4699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HX1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F41B6F-8BD4-2DA7-6FD8-291EC2315C4B}"/>
              </a:ext>
            </a:extLst>
          </p:cNvPr>
          <p:cNvCxnSpPr>
            <a:cxnSpLocks/>
            <a:stCxn id="43" idx="6"/>
            <a:endCxn id="46" idx="1"/>
          </p:cNvCxnSpPr>
          <p:nvPr/>
        </p:nvCxnSpPr>
        <p:spPr>
          <a:xfrm>
            <a:off x="8617885" y="5593902"/>
            <a:ext cx="365887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8EA41B-B604-22BF-8647-422C06E8211E}"/>
              </a:ext>
            </a:extLst>
          </p:cNvPr>
          <p:cNvCxnSpPr>
            <a:stCxn id="38" idx="6"/>
            <a:endCxn id="53" idx="2"/>
          </p:cNvCxnSpPr>
          <p:nvPr/>
        </p:nvCxnSpPr>
        <p:spPr>
          <a:xfrm>
            <a:off x="5989250" y="5593902"/>
            <a:ext cx="173038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4C07B3-80DD-3216-12FF-B3B0111CFD96}"/>
              </a:ext>
            </a:extLst>
          </p:cNvPr>
          <p:cNvCxnSpPr>
            <a:stCxn id="27" idx="3"/>
            <a:endCxn id="38" idx="2"/>
          </p:cNvCxnSpPr>
          <p:nvPr/>
        </p:nvCxnSpPr>
        <p:spPr>
          <a:xfrm>
            <a:off x="5276466" y="5593902"/>
            <a:ext cx="242883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28A442-ACD1-B67E-F781-1185D9437784}"/>
              </a:ext>
            </a:extLst>
          </p:cNvPr>
          <p:cNvCxnSpPr>
            <a:cxnSpLocks/>
            <a:stCxn id="32" idx="6"/>
            <a:endCxn id="27" idx="1"/>
          </p:cNvCxnSpPr>
          <p:nvPr/>
        </p:nvCxnSpPr>
        <p:spPr>
          <a:xfrm>
            <a:off x="4002787" y="5593902"/>
            <a:ext cx="244980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C2A3847-18D9-7142-5017-CDCBB733A37C}"/>
              </a:ext>
            </a:extLst>
          </p:cNvPr>
          <p:cNvCxnSpPr>
            <a:stCxn id="26" idx="3"/>
            <a:endCxn id="32" idx="2"/>
          </p:cNvCxnSpPr>
          <p:nvPr/>
        </p:nvCxnSpPr>
        <p:spPr>
          <a:xfrm>
            <a:off x="3181752" y="5593902"/>
            <a:ext cx="351135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8C41F2DE-DB87-2634-A94A-6557D8E86AA4}"/>
              </a:ext>
            </a:extLst>
          </p:cNvPr>
          <p:cNvSpPr>
            <a:spLocks/>
          </p:cNvSpPr>
          <p:nvPr/>
        </p:nvSpPr>
        <p:spPr>
          <a:xfrm>
            <a:off x="5519349" y="5365302"/>
            <a:ext cx="469901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HX1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43F5663C-CAA5-3819-5A15-BF907209EC97}"/>
              </a:ext>
            </a:extLst>
          </p:cNvPr>
          <p:cNvCxnSpPr>
            <a:cxnSpLocks/>
            <a:endCxn id="32" idx="2"/>
          </p:cNvCxnSpPr>
          <p:nvPr/>
        </p:nvCxnSpPr>
        <p:spPr>
          <a:xfrm rot="16200000" flipH="1">
            <a:off x="3188716" y="5249731"/>
            <a:ext cx="501296" cy="187046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3F3FBB46-7F33-896E-ABB4-D74D6D847137}"/>
              </a:ext>
            </a:extLst>
          </p:cNvPr>
          <p:cNvCxnSpPr>
            <a:cxnSpLocks/>
            <a:stCxn id="49" idx="0"/>
            <a:endCxn id="30" idx="2"/>
          </p:cNvCxnSpPr>
          <p:nvPr/>
        </p:nvCxnSpPr>
        <p:spPr>
          <a:xfrm rot="10800000">
            <a:off x="866601" y="5593903"/>
            <a:ext cx="7068822" cy="611843"/>
          </a:xfrm>
          <a:prstGeom prst="bentConnector3">
            <a:avLst>
              <a:gd name="adj1" fmla="val 103234"/>
            </a:avLst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1B07873-AA43-E601-F1A1-AFC6DA07C3FE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570395" y="5593902"/>
            <a:ext cx="296206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4CE0BE3-2C40-6C28-130F-3D9A7CEB18D6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11283219" y="5593902"/>
            <a:ext cx="33406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B0510139-8A5B-C24B-8B6A-A4A08CCBF489}"/>
              </a:ext>
            </a:extLst>
          </p:cNvPr>
          <p:cNvSpPr>
            <a:spLocks/>
          </p:cNvSpPr>
          <p:nvPr/>
        </p:nvSpPr>
        <p:spPr>
          <a:xfrm>
            <a:off x="8147984" y="5365302"/>
            <a:ext cx="469901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</a:t>
            </a:r>
            <a:r>
              <a:rPr lang="en-GB" sz="1100" baseline="0" dirty="0"/>
              <a:t>F1</a:t>
            </a:r>
            <a:endParaRPr lang="en-GB" sz="1100" dirty="0"/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8AF838BC-3793-C763-6307-F741D9234C4D}"/>
              </a:ext>
            </a:extLst>
          </p:cNvPr>
          <p:cNvCxnSpPr>
            <a:cxnSpLocks/>
            <a:stCxn id="43" idx="6"/>
          </p:cNvCxnSpPr>
          <p:nvPr/>
        </p:nvCxnSpPr>
        <p:spPr>
          <a:xfrm flipV="1">
            <a:off x="8617884" y="5065432"/>
            <a:ext cx="72000" cy="528470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193350B-9614-81C3-7354-68CFCAB05527}"/>
              </a:ext>
            </a:extLst>
          </p:cNvPr>
          <p:cNvCxnSpPr>
            <a:stCxn id="28" idx="3"/>
            <a:endCxn id="43" idx="2"/>
          </p:cNvCxnSpPr>
          <p:nvPr/>
        </p:nvCxnSpPr>
        <p:spPr>
          <a:xfrm>
            <a:off x="7903772" y="5593902"/>
            <a:ext cx="244212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6E30F13-FE83-04E4-CC7B-5C33BD209760}"/>
              </a:ext>
            </a:extLst>
          </p:cNvPr>
          <p:cNvSpPr>
            <a:spLocks/>
          </p:cNvSpPr>
          <p:nvPr/>
        </p:nvSpPr>
        <p:spPr>
          <a:xfrm>
            <a:off x="8983772" y="5365302"/>
            <a:ext cx="1028699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CO2 removal (Std. </a:t>
            </a:r>
            <a:r>
              <a:rPr lang="en-GB" sz="1100" dirty="0" err="1"/>
              <a:t>Rectisol</a:t>
            </a:r>
            <a:r>
              <a:rPr lang="en-GB" sz="1100" dirty="0"/>
              <a:t>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AD532D5-4822-2294-73DB-CAD147E6D32D}"/>
              </a:ext>
            </a:extLst>
          </p:cNvPr>
          <p:cNvCxnSpPr>
            <a:stCxn id="46" idx="3"/>
            <a:endCxn id="29" idx="1"/>
          </p:cNvCxnSpPr>
          <p:nvPr/>
        </p:nvCxnSpPr>
        <p:spPr>
          <a:xfrm>
            <a:off x="10012471" y="5593902"/>
            <a:ext cx="24204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66FDF97-C754-D380-329E-60032E09993F}"/>
              </a:ext>
            </a:extLst>
          </p:cNvPr>
          <p:cNvCxnSpPr>
            <a:cxnSpLocks/>
            <a:stCxn id="46" idx="0"/>
          </p:cNvCxnSpPr>
          <p:nvPr/>
        </p:nvCxnSpPr>
        <p:spPr>
          <a:xfrm flipV="1">
            <a:off x="9498122" y="5069645"/>
            <a:ext cx="0" cy="295657"/>
          </a:xfrm>
          <a:prstGeom prst="straightConnector1">
            <a:avLst/>
          </a:prstGeom>
          <a:ln w="2540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rapezium 48">
            <a:extLst>
              <a:ext uri="{FF2B5EF4-FFF2-40B4-BE49-F238E27FC236}">
                <a16:creationId xmlns:a16="http://schemas.microsoft.com/office/drawing/2014/main" id="{E602A052-2049-D905-9084-5070DD18C37B}"/>
              </a:ext>
            </a:extLst>
          </p:cNvPr>
          <p:cNvSpPr/>
          <p:nvPr/>
        </p:nvSpPr>
        <p:spPr>
          <a:xfrm rot="16200000">
            <a:off x="8156934" y="5699812"/>
            <a:ext cx="568842" cy="1011865"/>
          </a:xfrm>
          <a:prstGeom prst="trapezoid">
            <a:avLst/>
          </a:prstGeom>
          <a:solidFill>
            <a:srgbClr val="7F6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Recycle gas compression</a:t>
            </a:r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C29CF300-3221-F459-F8D5-06E27C7C6702}"/>
              </a:ext>
            </a:extLst>
          </p:cNvPr>
          <p:cNvCxnSpPr>
            <a:stCxn id="29" idx="2"/>
            <a:endCxn id="49" idx="2"/>
          </p:cNvCxnSpPr>
          <p:nvPr/>
        </p:nvCxnSpPr>
        <p:spPr>
          <a:xfrm rot="5400000">
            <a:off x="9666458" y="5103332"/>
            <a:ext cx="383243" cy="1821582"/>
          </a:xfrm>
          <a:prstGeom prst="bentConnector2">
            <a:avLst/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115290B-B3E1-AD59-AA35-BB89E6C07BDB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4762117" y="5822502"/>
            <a:ext cx="0" cy="667664"/>
          </a:xfrm>
          <a:prstGeom prst="straightConnector1">
            <a:avLst/>
          </a:prstGeom>
          <a:ln w="25400">
            <a:solidFill>
              <a:srgbClr val="71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7FDD8AF9-AA8A-38C2-58A2-62D97A6295AC}"/>
              </a:ext>
            </a:extLst>
          </p:cNvPr>
          <p:cNvSpPr>
            <a:spLocks/>
          </p:cNvSpPr>
          <p:nvPr/>
        </p:nvSpPr>
        <p:spPr>
          <a:xfrm>
            <a:off x="6162288" y="5365302"/>
            <a:ext cx="469901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</a:t>
            </a:r>
            <a:r>
              <a:rPr lang="en-GB" sz="1100" baseline="0"/>
              <a:t>F2</a:t>
            </a:r>
            <a:endParaRPr lang="en-GB" sz="11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BE5DE66-3809-7F47-67A3-A930DA814070}"/>
              </a:ext>
            </a:extLst>
          </p:cNvPr>
          <p:cNvSpPr>
            <a:spLocks/>
          </p:cNvSpPr>
          <p:nvPr/>
        </p:nvSpPr>
        <p:spPr>
          <a:xfrm>
            <a:off x="1444451" y="5365302"/>
            <a:ext cx="469899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HXF2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A536F67-D49F-569D-660A-084206E830A2}"/>
              </a:ext>
            </a:extLst>
          </p:cNvPr>
          <p:cNvSpPr/>
          <p:nvPr/>
        </p:nvSpPr>
        <p:spPr>
          <a:xfrm>
            <a:off x="3409943" y="5256409"/>
            <a:ext cx="2634099" cy="676642"/>
          </a:xfrm>
          <a:prstGeom prst="rect">
            <a:avLst/>
          </a:prstGeom>
          <a:noFill/>
          <a:ln w="254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10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F81AA2E-5B0D-7960-AEB7-F1E588D9679F}"/>
              </a:ext>
            </a:extLst>
          </p:cNvPr>
          <p:cNvCxnSpPr>
            <a:stCxn id="54" idx="6"/>
            <a:endCxn id="26" idx="1"/>
          </p:cNvCxnSpPr>
          <p:nvPr/>
        </p:nvCxnSpPr>
        <p:spPr>
          <a:xfrm>
            <a:off x="1914350" y="5593902"/>
            <a:ext cx="238702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428791A-59D3-80A1-3564-5C8C61C99C47}"/>
              </a:ext>
            </a:extLst>
          </p:cNvPr>
          <p:cNvCxnSpPr>
            <a:stCxn id="53" idx="6"/>
            <a:endCxn id="28" idx="1"/>
          </p:cNvCxnSpPr>
          <p:nvPr/>
        </p:nvCxnSpPr>
        <p:spPr>
          <a:xfrm>
            <a:off x="6632189" y="5593902"/>
            <a:ext cx="242883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648FD80-111B-874D-A477-7A8AB7FC054F}"/>
              </a:ext>
            </a:extLst>
          </p:cNvPr>
          <p:cNvSpPr>
            <a:spLocks/>
          </p:cNvSpPr>
          <p:nvPr/>
        </p:nvSpPr>
        <p:spPr>
          <a:xfrm>
            <a:off x="2169488" y="2715256"/>
            <a:ext cx="1012264" cy="4691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NG desulph.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BCEDEA-D5CC-8746-8743-7884014B23BB}"/>
              </a:ext>
            </a:extLst>
          </p:cNvPr>
          <p:cNvSpPr>
            <a:spLocks/>
          </p:cNvSpPr>
          <p:nvPr/>
        </p:nvSpPr>
        <p:spPr>
          <a:xfrm>
            <a:off x="4247767" y="2715256"/>
            <a:ext cx="1012264" cy="4691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/>
              <a:t>SMR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1E1C3E-1D39-DF40-A481-BD731369D5B3}"/>
              </a:ext>
            </a:extLst>
          </p:cNvPr>
          <p:cNvSpPr>
            <a:spLocks/>
          </p:cNvSpPr>
          <p:nvPr/>
        </p:nvSpPr>
        <p:spPr>
          <a:xfrm>
            <a:off x="6875072" y="2715256"/>
            <a:ext cx="1012265" cy="4691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WGS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F4D905-6330-D24C-A41B-36DE84B2D510}"/>
              </a:ext>
            </a:extLst>
          </p:cNvPr>
          <p:cNvSpPr>
            <a:spLocks/>
          </p:cNvSpPr>
          <p:nvPr/>
        </p:nvSpPr>
        <p:spPr>
          <a:xfrm>
            <a:off x="10254520" y="2715256"/>
            <a:ext cx="1012265" cy="4691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PSA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9B1CD4-845A-4C48-8EA2-FB6FF0AC7BB9}"/>
              </a:ext>
            </a:extLst>
          </p:cNvPr>
          <p:cNvSpPr>
            <a:spLocks/>
          </p:cNvSpPr>
          <p:nvPr/>
        </p:nvSpPr>
        <p:spPr>
          <a:xfrm>
            <a:off x="1460887" y="2715256"/>
            <a:ext cx="453463" cy="469153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961D55-4B23-2A49-B3B0-27B23C781BAA}"/>
              </a:ext>
            </a:extLst>
          </p:cNvPr>
          <p:cNvCxnSpPr>
            <a:stCxn id="9" idx="6"/>
            <a:endCxn id="2" idx="1"/>
          </p:cNvCxnSpPr>
          <p:nvPr/>
        </p:nvCxnSpPr>
        <p:spPr>
          <a:xfrm>
            <a:off x="1914350" y="2949833"/>
            <a:ext cx="255138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DB6F95C6-CACE-504D-8B8B-97A61BA3C797}"/>
              </a:ext>
            </a:extLst>
          </p:cNvPr>
          <p:cNvSpPr>
            <a:spLocks/>
          </p:cNvSpPr>
          <p:nvPr/>
        </p:nvSpPr>
        <p:spPr>
          <a:xfrm>
            <a:off x="3549322" y="2715256"/>
            <a:ext cx="453465" cy="469153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HX1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D57EF5-56FE-B446-8533-F46D7423E437}"/>
              </a:ext>
            </a:extLst>
          </p:cNvPr>
          <p:cNvCxnSpPr>
            <a:stCxn id="20" idx="6"/>
            <a:endCxn id="8" idx="1"/>
          </p:cNvCxnSpPr>
          <p:nvPr/>
        </p:nvCxnSpPr>
        <p:spPr>
          <a:xfrm>
            <a:off x="9724854" y="2949833"/>
            <a:ext cx="529666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A5D6EB-D21B-3645-A852-A4FB8B36C5D9}"/>
              </a:ext>
            </a:extLst>
          </p:cNvPr>
          <p:cNvCxnSpPr>
            <a:stCxn id="67" idx="6"/>
            <a:endCxn id="20" idx="2"/>
          </p:cNvCxnSpPr>
          <p:nvPr/>
        </p:nvCxnSpPr>
        <p:spPr>
          <a:xfrm>
            <a:off x="8601449" y="2949833"/>
            <a:ext cx="669940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B4F37C-559C-8643-9DDE-008AFC56FCA2}"/>
              </a:ext>
            </a:extLst>
          </p:cNvPr>
          <p:cNvCxnSpPr>
            <a:stCxn id="19" idx="6"/>
            <a:endCxn id="7" idx="1"/>
          </p:cNvCxnSpPr>
          <p:nvPr/>
        </p:nvCxnSpPr>
        <p:spPr>
          <a:xfrm>
            <a:off x="5972815" y="2949833"/>
            <a:ext cx="902257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BE64CD-45D9-A845-A727-3A32888645AC}"/>
              </a:ext>
            </a:extLst>
          </p:cNvPr>
          <p:cNvCxnSpPr>
            <a:stCxn id="6" idx="3"/>
            <a:endCxn id="19" idx="2"/>
          </p:cNvCxnSpPr>
          <p:nvPr/>
        </p:nvCxnSpPr>
        <p:spPr>
          <a:xfrm>
            <a:off x="5260031" y="2949833"/>
            <a:ext cx="259318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3AFA69-42A6-2449-BECA-8BD2C420C01E}"/>
              </a:ext>
            </a:extLst>
          </p:cNvPr>
          <p:cNvCxnSpPr>
            <a:cxnSpLocks/>
            <a:stCxn id="11" idx="6"/>
            <a:endCxn id="6" idx="1"/>
          </p:cNvCxnSpPr>
          <p:nvPr/>
        </p:nvCxnSpPr>
        <p:spPr>
          <a:xfrm>
            <a:off x="4002787" y="2949833"/>
            <a:ext cx="244980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9CFA2A-F911-0344-8E79-BFD27D7D176F}"/>
              </a:ext>
            </a:extLst>
          </p:cNvPr>
          <p:cNvCxnSpPr>
            <a:stCxn id="2" idx="3"/>
            <a:endCxn id="11" idx="2"/>
          </p:cNvCxnSpPr>
          <p:nvPr/>
        </p:nvCxnSpPr>
        <p:spPr>
          <a:xfrm>
            <a:off x="3181752" y="2949833"/>
            <a:ext cx="367570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D3BEBC17-3CF6-014A-A5C7-EA6BF6A2997E}"/>
              </a:ext>
            </a:extLst>
          </p:cNvPr>
          <p:cNvCxnSpPr>
            <a:cxnSpLocks/>
            <a:stCxn id="6" idx="0"/>
            <a:endCxn id="11" idx="0"/>
          </p:cNvCxnSpPr>
          <p:nvPr/>
        </p:nvCxnSpPr>
        <p:spPr>
          <a:xfrm rot="16200000" flipV="1">
            <a:off x="4264977" y="2226334"/>
            <a:ext cx="12700" cy="977844"/>
          </a:xfrm>
          <a:prstGeom prst="bentConnector3">
            <a:avLst>
              <a:gd name="adj1" fmla="val 1145457"/>
            </a:avLst>
          </a:prstGeom>
          <a:ln w="2540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C36179A-E38D-8E4F-A21F-9E988CCD3809}"/>
              </a:ext>
            </a:extLst>
          </p:cNvPr>
          <p:cNvSpPr>
            <a:spLocks/>
          </p:cNvSpPr>
          <p:nvPr/>
        </p:nvSpPr>
        <p:spPr>
          <a:xfrm>
            <a:off x="5519349" y="2715256"/>
            <a:ext cx="453466" cy="4691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37BE47-9D82-504E-AE1B-6E6C6F90B73A}"/>
              </a:ext>
            </a:extLst>
          </p:cNvPr>
          <p:cNvSpPr>
            <a:spLocks/>
          </p:cNvSpPr>
          <p:nvPr/>
        </p:nvSpPr>
        <p:spPr>
          <a:xfrm>
            <a:off x="9271389" y="2715256"/>
            <a:ext cx="453465" cy="4691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HX5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B51FCAAD-A7F1-8B43-8117-7299E471778D}"/>
              </a:ext>
            </a:extLst>
          </p:cNvPr>
          <p:cNvCxnSpPr>
            <a:cxnSpLocks/>
            <a:stCxn id="127" idx="2"/>
            <a:endCxn id="19" idx="4"/>
          </p:cNvCxnSpPr>
          <p:nvPr/>
        </p:nvCxnSpPr>
        <p:spPr>
          <a:xfrm rot="10800000">
            <a:off x="5746083" y="3184410"/>
            <a:ext cx="476437" cy="163509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529BCD18-797B-B74D-AF60-6F74A2AFD527}"/>
              </a:ext>
            </a:extLst>
          </p:cNvPr>
          <p:cNvCxnSpPr>
            <a:stCxn id="61" idx="2"/>
            <a:endCxn id="11" idx="2"/>
          </p:cNvCxnSpPr>
          <p:nvPr/>
        </p:nvCxnSpPr>
        <p:spPr>
          <a:xfrm rot="10800000" flipV="1">
            <a:off x="3549322" y="2022455"/>
            <a:ext cx="984194" cy="927378"/>
          </a:xfrm>
          <a:prstGeom prst="bentConnector3">
            <a:avLst>
              <a:gd name="adj1" fmla="val 123227"/>
            </a:avLst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45AB7C71-07C3-B94C-9D52-1878AEAC8C32}"/>
              </a:ext>
            </a:extLst>
          </p:cNvPr>
          <p:cNvCxnSpPr>
            <a:stCxn id="8" idx="2"/>
            <a:endCxn id="6" idx="2"/>
          </p:cNvCxnSpPr>
          <p:nvPr/>
        </p:nvCxnSpPr>
        <p:spPr>
          <a:xfrm rot="5400000">
            <a:off x="7757276" y="181032"/>
            <a:ext cx="12700" cy="6006754"/>
          </a:xfrm>
          <a:prstGeom prst="bentConnector3">
            <a:avLst>
              <a:gd name="adj1" fmla="val 4822213"/>
            </a:avLst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3583F9-7263-6B4C-9A29-80AE84BF13F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570395" y="2949833"/>
            <a:ext cx="890492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F7CA71-31FD-E84D-AB6F-5F72BF066461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1266785" y="2949833"/>
            <a:ext cx="35049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E1EB9CB-3192-AF41-988C-3DE2385AF6FA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498122" y="1890035"/>
            <a:ext cx="0" cy="825221"/>
          </a:xfrm>
          <a:prstGeom prst="straightConnector1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01A11A35-4884-A147-B625-9C382351CE7F}"/>
              </a:ext>
            </a:extLst>
          </p:cNvPr>
          <p:cNvCxnSpPr>
            <a:cxnSpLocks/>
            <a:stCxn id="20" idx="4"/>
            <a:endCxn id="127" idx="6"/>
          </p:cNvCxnSpPr>
          <p:nvPr/>
        </p:nvCxnSpPr>
        <p:spPr>
          <a:xfrm rot="5400000">
            <a:off x="8005300" y="1855095"/>
            <a:ext cx="163509" cy="2822137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EBE17647-20F0-E445-872E-C7516B8A8CC9}"/>
              </a:ext>
            </a:extLst>
          </p:cNvPr>
          <p:cNvCxnSpPr>
            <a:cxnSpLocks/>
            <a:stCxn id="11" idx="4"/>
            <a:endCxn id="127" idx="4"/>
          </p:cNvCxnSpPr>
          <p:nvPr/>
        </p:nvCxnSpPr>
        <p:spPr>
          <a:xfrm rot="16200000" flipH="1">
            <a:off x="4913611" y="2046852"/>
            <a:ext cx="398085" cy="2673197"/>
          </a:xfrm>
          <a:prstGeom prst="bentConnector3">
            <a:avLst>
              <a:gd name="adj1" fmla="val 133063"/>
            </a:avLst>
          </a:prstGeom>
          <a:ln w="2540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B957FB-F0E6-9F40-9E1F-A12C0AABF26C}"/>
              </a:ext>
            </a:extLst>
          </p:cNvPr>
          <p:cNvCxnSpPr>
            <a:cxnSpLocks/>
            <a:stCxn id="71" idx="0"/>
          </p:cNvCxnSpPr>
          <p:nvPr/>
        </p:nvCxnSpPr>
        <p:spPr>
          <a:xfrm flipV="1">
            <a:off x="4760249" y="1020763"/>
            <a:ext cx="0" cy="159044"/>
          </a:xfrm>
          <a:prstGeom prst="straightConnector1">
            <a:avLst/>
          </a:prstGeom>
          <a:ln w="2540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4DEDE6CD-F1FF-A146-A118-FD13BDC65ACB}"/>
              </a:ext>
            </a:extLst>
          </p:cNvPr>
          <p:cNvSpPr>
            <a:spLocks/>
          </p:cNvSpPr>
          <p:nvPr/>
        </p:nvSpPr>
        <p:spPr>
          <a:xfrm>
            <a:off x="4533516" y="1784890"/>
            <a:ext cx="453465" cy="4751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HX2</a:t>
            </a:r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44F4A21-0796-0D41-8FA2-1AFCEAA89A20}"/>
              </a:ext>
            </a:extLst>
          </p:cNvPr>
          <p:cNvCxnSpPr>
            <a:stCxn id="19" idx="0"/>
            <a:endCxn id="61" idx="6"/>
          </p:cNvCxnSpPr>
          <p:nvPr/>
        </p:nvCxnSpPr>
        <p:spPr>
          <a:xfrm rot="16200000" flipV="1">
            <a:off x="5020132" y="1989305"/>
            <a:ext cx="692801" cy="759101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0F134DAE-7451-5C4A-8A64-BD3EAABD9D25}"/>
              </a:ext>
            </a:extLst>
          </p:cNvPr>
          <p:cNvCxnSpPr>
            <a:cxnSpLocks/>
            <a:stCxn id="127" idx="0"/>
            <a:endCxn id="61" idx="4"/>
          </p:cNvCxnSpPr>
          <p:nvPr/>
        </p:nvCxnSpPr>
        <p:spPr>
          <a:xfrm rot="16200000" flipV="1">
            <a:off x="5178090" y="1842178"/>
            <a:ext cx="853322" cy="1689003"/>
          </a:xfrm>
          <a:prstGeom prst="bentConnector3">
            <a:avLst>
              <a:gd name="adj1" fmla="val 83305"/>
            </a:avLst>
          </a:prstGeom>
          <a:ln w="2540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B954FBC7-274F-E44D-A8F9-6DEED8914FB1}"/>
              </a:ext>
            </a:extLst>
          </p:cNvPr>
          <p:cNvCxnSpPr>
            <a:stCxn id="75" idx="0"/>
            <a:endCxn id="9" idx="2"/>
          </p:cNvCxnSpPr>
          <p:nvPr/>
        </p:nvCxnSpPr>
        <p:spPr>
          <a:xfrm rot="10800000">
            <a:off x="1460887" y="2949834"/>
            <a:ext cx="6474536" cy="1496565"/>
          </a:xfrm>
          <a:prstGeom prst="bentConnector3">
            <a:avLst>
              <a:gd name="adj1" fmla="val 105693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79DA9FFE-C844-1745-8E76-45B5981E8D4C}"/>
              </a:ext>
            </a:extLst>
          </p:cNvPr>
          <p:cNvCxnSpPr>
            <a:cxnSpLocks/>
            <a:stCxn id="61" idx="2"/>
          </p:cNvCxnSpPr>
          <p:nvPr/>
        </p:nvCxnSpPr>
        <p:spPr>
          <a:xfrm rot="10800000">
            <a:off x="3781014" y="1020763"/>
            <a:ext cx="752502" cy="1001692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FFE0065F-8A1E-A5FD-7689-B02F02F4C4BB}"/>
              </a:ext>
            </a:extLst>
          </p:cNvPr>
          <p:cNvSpPr>
            <a:spLocks/>
          </p:cNvSpPr>
          <p:nvPr/>
        </p:nvSpPr>
        <p:spPr>
          <a:xfrm>
            <a:off x="8147984" y="2715256"/>
            <a:ext cx="453465" cy="469153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</a:t>
            </a:r>
            <a:r>
              <a:rPr lang="en-GB" sz="1100" baseline="0"/>
              <a:t>F</a:t>
            </a:r>
            <a:endParaRPr lang="en-GB" sz="1100"/>
          </a:p>
        </p:txBody>
      </p: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E536C64D-EA33-9746-898A-143EB681083E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9724854" y="1886057"/>
            <a:ext cx="56839" cy="1063776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B8FF09F-228F-7C4E-8418-03FDD699BC9B}"/>
              </a:ext>
            </a:extLst>
          </p:cNvPr>
          <p:cNvCxnSpPr>
            <a:stCxn id="70" idx="0"/>
            <a:endCxn id="6" idx="2"/>
          </p:cNvCxnSpPr>
          <p:nvPr/>
        </p:nvCxnSpPr>
        <p:spPr>
          <a:xfrm flipH="1" flipV="1">
            <a:off x="4753899" y="3184409"/>
            <a:ext cx="6350" cy="654680"/>
          </a:xfrm>
          <a:prstGeom prst="straightConnector1">
            <a:avLst/>
          </a:prstGeom>
          <a:ln w="2540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DA7E1FD3-834C-DE4F-8283-8FCA0C381EE0}"/>
              </a:ext>
            </a:extLst>
          </p:cNvPr>
          <p:cNvSpPr>
            <a:spLocks/>
          </p:cNvSpPr>
          <p:nvPr/>
        </p:nvSpPr>
        <p:spPr>
          <a:xfrm>
            <a:off x="4533516" y="3839089"/>
            <a:ext cx="453465" cy="471586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HXA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F2C954C-FC59-54B4-086F-FDD44C9819F6}"/>
              </a:ext>
            </a:extLst>
          </p:cNvPr>
          <p:cNvSpPr>
            <a:spLocks/>
          </p:cNvSpPr>
          <p:nvPr/>
        </p:nvSpPr>
        <p:spPr>
          <a:xfrm>
            <a:off x="4533516" y="1179807"/>
            <a:ext cx="453465" cy="471586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HXA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3057AEB-86B4-2846-9A85-E77FA04AF653}"/>
              </a:ext>
            </a:extLst>
          </p:cNvPr>
          <p:cNvCxnSpPr>
            <a:stCxn id="61" idx="0"/>
            <a:endCxn id="71" idx="4"/>
          </p:cNvCxnSpPr>
          <p:nvPr/>
        </p:nvCxnSpPr>
        <p:spPr>
          <a:xfrm flipV="1">
            <a:off x="4760249" y="1651393"/>
            <a:ext cx="0" cy="133497"/>
          </a:xfrm>
          <a:prstGeom prst="straightConnector1">
            <a:avLst/>
          </a:prstGeom>
          <a:ln w="2540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6EFE17A-27F1-2741-8793-93241EC21EB3}"/>
              </a:ext>
            </a:extLst>
          </p:cNvPr>
          <p:cNvCxnSpPr>
            <a:cxnSpLocks/>
            <a:endCxn id="70" idx="4"/>
          </p:cNvCxnSpPr>
          <p:nvPr/>
        </p:nvCxnSpPr>
        <p:spPr>
          <a:xfrm flipV="1">
            <a:off x="4760249" y="4310675"/>
            <a:ext cx="0" cy="344452"/>
          </a:xfrm>
          <a:prstGeom prst="straightConnector1">
            <a:avLst/>
          </a:prstGeom>
          <a:ln w="2540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6EC459D-F099-860B-9FA8-52EAFAD54809}"/>
              </a:ext>
            </a:extLst>
          </p:cNvPr>
          <p:cNvCxnSpPr>
            <a:stCxn id="7" idx="3"/>
            <a:endCxn id="67" idx="2"/>
          </p:cNvCxnSpPr>
          <p:nvPr/>
        </p:nvCxnSpPr>
        <p:spPr>
          <a:xfrm>
            <a:off x="7887337" y="2949833"/>
            <a:ext cx="260647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rapezium 74">
            <a:extLst>
              <a:ext uri="{FF2B5EF4-FFF2-40B4-BE49-F238E27FC236}">
                <a16:creationId xmlns:a16="http://schemas.microsoft.com/office/drawing/2014/main" id="{0272076F-4EC9-D8A5-AC7A-BED36584E964}"/>
              </a:ext>
            </a:extLst>
          </p:cNvPr>
          <p:cNvSpPr/>
          <p:nvPr/>
        </p:nvSpPr>
        <p:spPr>
          <a:xfrm rot="16200000">
            <a:off x="8135912" y="3954295"/>
            <a:ext cx="583227" cy="984206"/>
          </a:xfrm>
          <a:prstGeom prst="trapezoid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H2 compression</a:t>
            </a:r>
          </a:p>
        </p:txBody>
      </p: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8050F0D8-C982-C048-8AD6-B51E1E15ABF1}"/>
              </a:ext>
            </a:extLst>
          </p:cNvPr>
          <p:cNvCxnSpPr>
            <a:cxnSpLocks/>
            <a:stCxn id="8" idx="3"/>
            <a:endCxn id="75" idx="2"/>
          </p:cNvCxnSpPr>
          <p:nvPr/>
        </p:nvCxnSpPr>
        <p:spPr>
          <a:xfrm flipH="1">
            <a:off x="8919629" y="2949833"/>
            <a:ext cx="2347156" cy="1496565"/>
          </a:xfrm>
          <a:prstGeom prst="bentConnector3">
            <a:avLst>
              <a:gd name="adj1" fmla="val -9739"/>
            </a:avLst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E15F91D1-9CF1-0A73-E8F9-A71607AC4148}"/>
              </a:ext>
            </a:extLst>
          </p:cNvPr>
          <p:cNvSpPr>
            <a:spLocks/>
          </p:cNvSpPr>
          <p:nvPr/>
        </p:nvSpPr>
        <p:spPr>
          <a:xfrm>
            <a:off x="6222519" y="3113341"/>
            <a:ext cx="453466" cy="4691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HX4</a:t>
            </a: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62F1DD1-B758-4953-0B84-326ED89C8958}"/>
              </a:ext>
            </a:extLst>
          </p:cNvPr>
          <p:cNvCxnSpPr>
            <a:cxnSpLocks/>
          </p:cNvCxnSpPr>
          <p:nvPr/>
        </p:nvCxnSpPr>
        <p:spPr>
          <a:xfrm>
            <a:off x="1192696" y="4899355"/>
            <a:ext cx="103748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BDBBEE48-131B-2FD3-04FB-66D71EACB4A6}"/>
              </a:ext>
            </a:extLst>
          </p:cNvPr>
          <p:cNvSpPr txBox="1"/>
          <p:nvPr/>
        </p:nvSpPr>
        <p:spPr>
          <a:xfrm>
            <a:off x="624423" y="5389367"/>
            <a:ext cx="310751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NG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E2AFDE69-9F40-6650-C24E-609C6C83B06B}"/>
              </a:ext>
            </a:extLst>
          </p:cNvPr>
          <p:cNvSpPr txBox="1"/>
          <p:nvPr/>
        </p:nvSpPr>
        <p:spPr>
          <a:xfrm>
            <a:off x="11313980" y="5389367"/>
            <a:ext cx="310751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H2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B5145DB-BEFD-2F84-E393-2E022B0ADE0D}"/>
              </a:ext>
            </a:extLst>
          </p:cNvPr>
          <p:cNvSpPr txBox="1"/>
          <p:nvPr/>
        </p:nvSpPr>
        <p:spPr>
          <a:xfrm>
            <a:off x="4831605" y="992158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Flue gas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A640D7B-D6E5-7213-2CBD-ECD7A961B7DE}"/>
              </a:ext>
            </a:extLst>
          </p:cNvPr>
          <p:cNvSpPr txBox="1"/>
          <p:nvPr/>
        </p:nvSpPr>
        <p:spPr>
          <a:xfrm>
            <a:off x="2569377" y="992158"/>
            <a:ext cx="1179576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MP steam export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E3F8590-71F4-968E-79A0-E694780D0158}"/>
              </a:ext>
            </a:extLst>
          </p:cNvPr>
          <p:cNvSpPr txBox="1"/>
          <p:nvPr/>
        </p:nvSpPr>
        <p:spPr>
          <a:xfrm>
            <a:off x="4831605" y="4492241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Air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AAC3D19C-A4C8-8284-2EC8-1D7B26646259}"/>
              </a:ext>
            </a:extLst>
          </p:cNvPr>
          <p:cNvSpPr txBox="1"/>
          <p:nvPr/>
        </p:nvSpPr>
        <p:spPr>
          <a:xfrm>
            <a:off x="624423" y="2746794"/>
            <a:ext cx="310751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NG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AE7862BF-E62E-F121-48AE-3F573D612506}"/>
              </a:ext>
            </a:extLst>
          </p:cNvPr>
          <p:cNvSpPr txBox="1"/>
          <p:nvPr/>
        </p:nvSpPr>
        <p:spPr>
          <a:xfrm>
            <a:off x="11313980" y="2747314"/>
            <a:ext cx="310751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H2</a:t>
            </a:r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A8A10CA6-1F35-2DC3-962A-FECEA70290FD}"/>
              </a:ext>
            </a:extLst>
          </p:cNvPr>
          <p:cNvGrpSpPr/>
          <p:nvPr/>
        </p:nvGrpSpPr>
        <p:grpSpPr>
          <a:xfrm rot="5400000">
            <a:off x="627974" y="4673057"/>
            <a:ext cx="460800" cy="460801"/>
            <a:chOff x="3009210" y="1597025"/>
            <a:chExt cx="460801" cy="460801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2B45E9E-30C9-9FFE-AB9A-D29D8427C234}"/>
                </a:ext>
              </a:extLst>
            </p:cNvPr>
            <p:cNvSpPr/>
            <p:nvPr/>
          </p:nvSpPr>
          <p:spPr>
            <a:xfrm>
              <a:off x="3009210" y="1597025"/>
              <a:ext cx="460801" cy="4608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1600" dirty="0"/>
            </a:p>
          </p:txBody>
        </p: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91D1F8C9-D6BA-B8A0-F3D9-6425DEF6BDF6}"/>
                </a:ext>
              </a:extLst>
            </p:cNvPr>
            <p:cNvCxnSpPr>
              <a:cxnSpLocks/>
            </p:cNvCxnSpPr>
            <p:nvPr/>
          </p:nvCxnSpPr>
          <p:spPr>
            <a:xfrm>
              <a:off x="3182476" y="1668870"/>
              <a:ext cx="153909" cy="153909"/>
            </a:xfrm>
            <a:prstGeom prst="line">
              <a:avLst/>
            </a:prstGeom>
            <a:ln w="44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36AC32C-2D52-1E2C-1E25-90FCDACBEC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2476" y="1822779"/>
              <a:ext cx="153909" cy="153909"/>
            </a:xfrm>
            <a:prstGeom prst="line">
              <a:avLst/>
            </a:prstGeom>
            <a:ln w="444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536275BF-E76B-DE17-438A-4AB8465C8DEB}"/>
                </a:ext>
              </a:extLst>
            </p:cNvPr>
            <p:cNvSpPr/>
            <p:nvPr/>
          </p:nvSpPr>
          <p:spPr>
            <a:xfrm rot="2700000">
              <a:off x="3314020" y="1799920"/>
              <a:ext cx="45719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1600" dirty="0"/>
            </a:p>
          </p:txBody>
        </p:sp>
      </p:grpSp>
      <p:sp>
        <p:nvSpPr>
          <p:cNvPr id="220" name="TextBox 219">
            <a:extLst>
              <a:ext uri="{FF2B5EF4-FFF2-40B4-BE49-F238E27FC236}">
                <a16:creationId xmlns:a16="http://schemas.microsoft.com/office/drawing/2014/main" id="{3752F55A-3AAC-584E-B1FD-5D8317B7E20D}"/>
              </a:ext>
            </a:extLst>
          </p:cNvPr>
          <p:cNvSpPr txBox="1"/>
          <p:nvPr/>
        </p:nvSpPr>
        <p:spPr>
          <a:xfrm>
            <a:off x="4831605" y="6306324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Electricity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8CC99AC0-94C9-9DC9-7F29-1D546A535CE7}"/>
              </a:ext>
            </a:extLst>
          </p:cNvPr>
          <p:cNvSpPr txBox="1"/>
          <p:nvPr/>
        </p:nvSpPr>
        <p:spPr>
          <a:xfrm>
            <a:off x="9885763" y="1880840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Waste water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9C24E376-1C04-57F0-07CD-AA854EB2EFB4}"/>
              </a:ext>
            </a:extLst>
          </p:cNvPr>
          <p:cNvSpPr txBox="1"/>
          <p:nvPr/>
        </p:nvSpPr>
        <p:spPr>
          <a:xfrm>
            <a:off x="9044182" y="1880840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Water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E890B3C-0047-BE01-DBEC-3B018C4D5346}"/>
              </a:ext>
            </a:extLst>
          </p:cNvPr>
          <p:cNvSpPr txBox="1"/>
          <p:nvPr/>
        </p:nvSpPr>
        <p:spPr>
          <a:xfrm>
            <a:off x="9595836" y="5057670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CO2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B96833FB-BE35-43CC-2FF9-421300A089AB}"/>
              </a:ext>
            </a:extLst>
          </p:cNvPr>
          <p:cNvSpPr txBox="1"/>
          <p:nvPr/>
        </p:nvSpPr>
        <p:spPr>
          <a:xfrm>
            <a:off x="7761687" y="5057670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Waster water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D56A81A-6FCB-F603-80C7-38DE533131A0}"/>
              </a:ext>
            </a:extLst>
          </p:cNvPr>
          <p:cNvSpPr txBox="1"/>
          <p:nvPr/>
        </p:nvSpPr>
        <p:spPr>
          <a:xfrm>
            <a:off x="2643709" y="5057670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HP Steam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055220F-873F-E362-5805-9876C7BA73BC}"/>
              </a:ext>
            </a:extLst>
          </p:cNvPr>
          <p:cNvSpPr txBox="1"/>
          <p:nvPr/>
        </p:nvSpPr>
        <p:spPr>
          <a:xfrm>
            <a:off x="3409943" y="5057670"/>
            <a:ext cx="1178221" cy="184474"/>
          </a:xfrm>
          <a:prstGeom prst="rect">
            <a:avLst/>
          </a:prstGeom>
          <a:solidFill>
            <a:srgbClr val="71AD47"/>
          </a:solidFill>
          <a:ln w="25400">
            <a:solidFill>
              <a:srgbClr val="71AD47"/>
            </a:solidFill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>
                <a:solidFill>
                  <a:schemeClr val="bg1"/>
                </a:solidFill>
              </a:rPr>
              <a:t> One reactor unit </a:t>
            </a:r>
          </a:p>
        </p:txBody>
      </p:sp>
      <p:sp>
        <p:nvSpPr>
          <p:cNvPr id="79" name="Titel 4">
            <a:extLst>
              <a:ext uri="{FF2B5EF4-FFF2-40B4-BE49-F238E27FC236}">
                <a16:creationId xmlns:a16="http://schemas.microsoft.com/office/drawing/2014/main" id="{9AB4DE10-2E06-856E-0E45-665F82A25F13}"/>
              </a:ext>
            </a:extLst>
          </p:cNvPr>
          <p:cNvSpPr txBox="1">
            <a:spLocks/>
          </p:cNvSpPr>
          <p:nvPr/>
        </p:nvSpPr>
        <p:spPr>
          <a:xfrm>
            <a:off x="624423" y="1014407"/>
            <a:ext cx="1762515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900" dirty="0"/>
              <a:t>High-level comparison of conventional SMR vs. </a:t>
            </a:r>
            <a:r>
              <a:rPr lang="en-US" sz="1900" dirty="0" err="1"/>
              <a:t>eSMR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590646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AE9F1A8-BFC3-581C-C0A9-77CDC660DE5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208925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82FF4B-AA6E-C44D-BAE8-5C9ADE6B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23D4BE-6389-1A4A-BF54-EB4AE387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4172" y="6589158"/>
            <a:ext cx="353417" cy="153888"/>
          </a:xfrm>
        </p:spPr>
        <p:txBody>
          <a:bodyPr/>
          <a:lstStyle/>
          <a:p>
            <a:fld id="{9E82CC3C-1DC0-4FDA-9590-6CC506AB67F8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EFA3EE4-8560-AF4A-B408-3BFFA696C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High-level economic evaluation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7908D83A-56A7-0D70-1C0D-3948D2D2C154}"/>
              </a:ext>
            </a:extLst>
          </p:cNvPr>
          <p:cNvSpPr>
            <a:spLocks/>
          </p:cNvSpPr>
          <p:nvPr/>
        </p:nvSpPr>
        <p:spPr>
          <a:xfrm>
            <a:off x="2103357" y="1836666"/>
            <a:ext cx="102870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NG desulph.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6E1C636-D260-3B73-B027-9F9D4BE992BA}"/>
              </a:ext>
            </a:extLst>
          </p:cNvPr>
          <p:cNvSpPr>
            <a:spLocks/>
          </p:cNvSpPr>
          <p:nvPr/>
        </p:nvSpPr>
        <p:spPr>
          <a:xfrm>
            <a:off x="4198072" y="1836666"/>
            <a:ext cx="1028699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b="1" dirty="0" err="1"/>
              <a:t>eSMR</a:t>
            </a:r>
            <a:endParaRPr lang="en-GB" sz="1100" b="1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4606A2B-3716-0CB8-78C4-8378D830B5F2}"/>
              </a:ext>
            </a:extLst>
          </p:cNvPr>
          <p:cNvSpPr>
            <a:spLocks/>
          </p:cNvSpPr>
          <p:nvPr/>
        </p:nvSpPr>
        <p:spPr>
          <a:xfrm>
            <a:off x="6825377" y="1836666"/>
            <a:ext cx="102870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WGS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0CA2380B-A072-6104-8E5F-16CA997A83E5}"/>
              </a:ext>
            </a:extLst>
          </p:cNvPr>
          <p:cNvSpPr>
            <a:spLocks/>
          </p:cNvSpPr>
          <p:nvPr/>
        </p:nvSpPr>
        <p:spPr>
          <a:xfrm>
            <a:off x="10204825" y="1836666"/>
            <a:ext cx="1028699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PSA</a:t>
            </a: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C3917B4A-0190-86EC-7BD1-AF59FF9BB284}"/>
              </a:ext>
            </a:extLst>
          </p:cNvPr>
          <p:cNvSpPr>
            <a:spLocks/>
          </p:cNvSpPr>
          <p:nvPr/>
        </p:nvSpPr>
        <p:spPr>
          <a:xfrm>
            <a:off x="816906" y="1836666"/>
            <a:ext cx="469899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HXF1</a:t>
            </a: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1D62846C-D73A-F1E6-4D44-0EBFDEE3D1A7}"/>
              </a:ext>
            </a:extLst>
          </p:cNvPr>
          <p:cNvCxnSpPr>
            <a:stCxn id="208" idx="6"/>
            <a:endCxn id="231" idx="2"/>
          </p:cNvCxnSpPr>
          <p:nvPr/>
        </p:nvCxnSpPr>
        <p:spPr>
          <a:xfrm>
            <a:off x="1286805" y="2065266"/>
            <a:ext cx="107951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FAA0BB64-937E-1A92-81C7-BE1620648A97}"/>
              </a:ext>
            </a:extLst>
          </p:cNvPr>
          <p:cNvSpPr>
            <a:spLocks/>
          </p:cNvSpPr>
          <p:nvPr/>
        </p:nvSpPr>
        <p:spPr>
          <a:xfrm>
            <a:off x="3483192" y="1836666"/>
            <a:ext cx="4699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HX1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FEBB429B-0658-203A-1FEE-AAE4C08F19A8}"/>
              </a:ext>
            </a:extLst>
          </p:cNvPr>
          <p:cNvCxnSpPr>
            <a:cxnSpLocks/>
            <a:stCxn id="221" idx="6"/>
            <a:endCxn id="224" idx="1"/>
          </p:cNvCxnSpPr>
          <p:nvPr/>
        </p:nvCxnSpPr>
        <p:spPr>
          <a:xfrm>
            <a:off x="8568190" y="2065266"/>
            <a:ext cx="365887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B8AB556F-E64B-4940-04F2-7D354CB8DB95}"/>
              </a:ext>
            </a:extLst>
          </p:cNvPr>
          <p:cNvCxnSpPr>
            <a:stCxn id="216" idx="6"/>
            <a:endCxn id="230" idx="2"/>
          </p:cNvCxnSpPr>
          <p:nvPr/>
        </p:nvCxnSpPr>
        <p:spPr>
          <a:xfrm>
            <a:off x="5939555" y="2065266"/>
            <a:ext cx="173038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C2B2AA47-0B88-FE78-8EED-24F3CAF26752}"/>
              </a:ext>
            </a:extLst>
          </p:cNvPr>
          <p:cNvCxnSpPr>
            <a:stCxn id="205" idx="3"/>
            <a:endCxn id="216" idx="2"/>
          </p:cNvCxnSpPr>
          <p:nvPr/>
        </p:nvCxnSpPr>
        <p:spPr>
          <a:xfrm>
            <a:off x="5226771" y="2065266"/>
            <a:ext cx="242883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00EDF4B5-9FB2-3049-0128-1837F7ECE80A}"/>
              </a:ext>
            </a:extLst>
          </p:cNvPr>
          <p:cNvCxnSpPr>
            <a:cxnSpLocks/>
            <a:stCxn id="210" idx="6"/>
            <a:endCxn id="205" idx="1"/>
          </p:cNvCxnSpPr>
          <p:nvPr/>
        </p:nvCxnSpPr>
        <p:spPr>
          <a:xfrm>
            <a:off x="3953092" y="2065266"/>
            <a:ext cx="244980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AD095F41-2F5A-06EB-53C6-5FE01E060E2B}"/>
              </a:ext>
            </a:extLst>
          </p:cNvPr>
          <p:cNvCxnSpPr>
            <a:stCxn id="204" idx="3"/>
            <a:endCxn id="210" idx="2"/>
          </p:cNvCxnSpPr>
          <p:nvPr/>
        </p:nvCxnSpPr>
        <p:spPr>
          <a:xfrm>
            <a:off x="3132057" y="2065266"/>
            <a:ext cx="351135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Oval 215">
            <a:extLst>
              <a:ext uri="{FF2B5EF4-FFF2-40B4-BE49-F238E27FC236}">
                <a16:creationId xmlns:a16="http://schemas.microsoft.com/office/drawing/2014/main" id="{7520A69D-3288-A9F8-0DA3-E1099EFCC7AF}"/>
              </a:ext>
            </a:extLst>
          </p:cNvPr>
          <p:cNvSpPr>
            <a:spLocks/>
          </p:cNvSpPr>
          <p:nvPr/>
        </p:nvSpPr>
        <p:spPr>
          <a:xfrm>
            <a:off x="5469654" y="1836666"/>
            <a:ext cx="469901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HX1</a:t>
            </a:r>
          </a:p>
        </p:txBody>
      </p:sp>
      <p:cxnSp>
        <p:nvCxnSpPr>
          <p:cNvPr id="217" name="Elbow Connector 216">
            <a:extLst>
              <a:ext uri="{FF2B5EF4-FFF2-40B4-BE49-F238E27FC236}">
                <a16:creationId xmlns:a16="http://schemas.microsoft.com/office/drawing/2014/main" id="{019C2FEF-9056-7C07-9218-DB6A0D9A925C}"/>
              </a:ext>
            </a:extLst>
          </p:cNvPr>
          <p:cNvCxnSpPr>
            <a:cxnSpLocks/>
            <a:endCxn id="210" idx="2"/>
          </p:cNvCxnSpPr>
          <p:nvPr/>
        </p:nvCxnSpPr>
        <p:spPr>
          <a:xfrm rot="16200000" flipH="1">
            <a:off x="3139021" y="1721095"/>
            <a:ext cx="501296" cy="187046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Elbow Connector 217">
            <a:extLst>
              <a:ext uri="{FF2B5EF4-FFF2-40B4-BE49-F238E27FC236}">
                <a16:creationId xmlns:a16="http://schemas.microsoft.com/office/drawing/2014/main" id="{EFDFD610-98D4-A1FE-176D-7892A868479A}"/>
              </a:ext>
            </a:extLst>
          </p:cNvPr>
          <p:cNvCxnSpPr>
            <a:cxnSpLocks/>
            <a:stCxn id="227" idx="0"/>
            <a:endCxn id="208" idx="2"/>
          </p:cNvCxnSpPr>
          <p:nvPr/>
        </p:nvCxnSpPr>
        <p:spPr>
          <a:xfrm rot="10800000">
            <a:off x="816906" y="2065267"/>
            <a:ext cx="7068822" cy="611843"/>
          </a:xfrm>
          <a:prstGeom prst="bentConnector3">
            <a:avLst>
              <a:gd name="adj1" fmla="val 103234"/>
            </a:avLst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69818BCE-F5EA-C79B-FE51-51BA51ACFFC1}"/>
              </a:ext>
            </a:extLst>
          </p:cNvPr>
          <p:cNvCxnSpPr>
            <a:cxnSpLocks/>
            <a:endCxn id="208" idx="2"/>
          </p:cNvCxnSpPr>
          <p:nvPr/>
        </p:nvCxnSpPr>
        <p:spPr>
          <a:xfrm>
            <a:off x="520700" y="2065266"/>
            <a:ext cx="296206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E753E24F-602C-6AA0-0592-43E78C788E58}"/>
              </a:ext>
            </a:extLst>
          </p:cNvPr>
          <p:cNvCxnSpPr>
            <a:cxnSpLocks/>
            <a:stCxn id="207" idx="3"/>
          </p:cNvCxnSpPr>
          <p:nvPr/>
        </p:nvCxnSpPr>
        <p:spPr>
          <a:xfrm>
            <a:off x="11233524" y="2065266"/>
            <a:ext cx="334065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220">
            <a:extLst>
              <a:ext uri="{FF2B5EF4-FFF2-40B4-BE49-F238E27FC236}">
                <a16:creationId xmlns:a16="http://schemas.microsoft.com/office/drawing/2014/main" id="{694BA7E5-29AD-1B26-C88F-7DA42377AF79}"/>
              </a:ext>
            </a:extLst>
          </p:cNvPr>
          <p:cNvSpPr>
            <a:spLocks/>
          </p:cNvSpPr>
          <p:nvPr/>
        </p:nvSpPr>
        <p:spPr>
          <a:xfrm>
            <a:off x="8098289" y="1836666"/>
            <a:ext cx="469901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</a:t>
            </a:r>
            <a:r>
              <a:rPr lang="en-GB" sz="1100" baseline="0" dirty="0"/>
              <a:t>F1</a:t>
            </a:r>
            <a:endParaRPr lang="en-GB" sz="1100" dirty="0"/>
          </a:p>
        </p:txBody>
      </p:sp>
      <p:cxnSp>
        <p:nvCxnSpPr>
          <p:cNvPr id="222" name="Elbow Connector 221">
            <a:extLst>
              <a:ext uri="{FF2B5EF4-FFF2-40B4-BE49-F238E27FC236}">
                <a16:creationId xmlns:a16="http://schemas.microsoft.com/office/drawing/2014/main" id="{44A778A3-91C9-A70D-6175-F14D391F023B}"/>
              </a:ext>
            </a:extLst>
          </p:cNvPr>
          <p:cNvCxnSpPr>
            <a:cxnSpLocks/>
            <a:stCxn id="221" idx="6"/>
          </p:cNvCxnSpPr>
          <p:nvPr/>
        </p:nvCxnSpPr>
        <p:spPr>
          <a:xfrm flipV="1">
            <a:off x="8568189" y="1536796"/>
            <a:ext cx="72000" cy="528470"/>
          </a:xfrm>
          <a:prstGeom prst="bentConnector2">
            <a:avLst/>
          </a:prstGeom>
          <a:ln w="254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A2F88BB9-8076-D465-AD1C-4A1D491C34DD}"/>
              </a:ext>
            </a:extLst>
          </p:cNvPr>
          <p:cNvCxnSpPr>
            <a:stCxn id="206" idx="3"/>
            <a:endCxn id="221" idx="2"/>
          </p:cNvCxnSpPr>
          <p:nvPr/>
        </p:nvCxnSpPr>
        <p:spPr>
          <a:xfrm>
            <a:off x="7854077" y="2065266"/>
            <a:ext cx="244212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FFDC677-D192-9426-BC7A-5794E2B08108}"/>
              </a:ext>
            </a:extLst>
          </p:cNvPr>
          <p:cNvSpPr>
            <a:spLocks/>
          </p:cNvSpPr>
          <p:nvPr/>
        </p:nvSpPr>
        <p:spPr>
          <a:xfrm>
            <a:off x="8934077" y="1836666"/>
            <a:ext cx="1028699" cy="45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CO2 removal (Std. </a:t>
            </a:r>
            <a:r>
              <a:rPr lang="en-GB" sz="1100" dirty="0" err="1"/>
              <a:t>Rectisol</a:t>
            </a:r>
            <a:r>
              <a:rPr lang="en-GB" sz="1100" dirty="0"/>
              <a:t>)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768097F7-2852-1C04-B40E-1C2AC03F5ABF}"/>
              </a:ext>
            </a:extLst>
          </p:cNvPr>
          <p:cNvCxnSpPr>
            <a:stCxn id="224" idx="3"/>
            <a:endCxn id="207" idx="1"/>
          </p:cNvCxnSpPr>
          <p:nvPr/>
        </p:nvCxnSpPr>
        <p:spPr>
          <a:xfrm>
            <a:off x="9962776" y="2065266"/>
            <a:ext cx="242049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03F570B2-64FA-7F44-EA63-F3C263F55EC0}"/>
              </a:ext>
            </a:extLst>
          </p:cNvPr>
          <p:cNvCxnSpPr>
            <a:cxnSpLocks/>
            <a:stCxn id="224" idx="0"/>
          </p:cNvCxnSpPr>
          <p:nvPr/>
        </p:nvCxnSpPr>
        <p:spPr>
          <a:xfrm flipV="1">
            <a:off x="9448427" y="1541009"/>
            <a:ext cx="0" cy="295657"/>
          </a:xfrm>
          <a:prstGeom prst="straightConnector1">
            <a:avLst/>
          </a:prstGeom>
          <a:ln w="25400">
            <a:solidFill>
              <a:srgbClr val="A5A5A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rapezium 226">
            <a:extLst>
              <a:ext uri="{FF2B5EF4-FFF2-40B4-BE49-F238E27FC236}">
                <a16:creationId xmlns:a16="http://schemas.microsoft.com/office/drawing/2014/main" id="{304DB622-FCA8-A120-5108-805D65263BA1}"/>
              </a:ext>
            </a:extLst>
          </p:cNvPr>
          <p:cNvSpPr/>
          <p:nvPr/>
        </p:nvSpPr>
        <p:spPr>
          <a:xfrm rot="16200000">
            <a:off x="8107239" y="2171176"/>
            <a:ext cx="568842" cy="1011865"/>
          </a:xfrm>
          <a:prstGeom prst="trapezoid">
            <a:avLst/>
          </a:prstGeom>
          <a:solidFill>
            <a:srgbClr val="7F6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Recycle gas compression</a:t>
            </a:r>
          </a:p>
        </p:txBody>
      </p:sp>
      <p:cxnSp>
        <p:nvCxnSpPr>
          <p:cNvPr id="228" name="Elbow Connector 227">
            <a:extLst>
              <a:ext uri="{FF2B5EF4-FFF2-40B4-BE49-F238E27FC236}">
                <a16:creationId xmlns:a16="http://schemas.microsoft.com/office/drawing/2014/main" id="{A3798D1B-0141-7B9D-9383-610C1D12EA3B}"/>
              </a:ext>
            </a:extLst>
          </p:cNvPr>
          <p:cNvCxnSpPr>
            <a:stCxn id="207" idx="2"/>
            <a:endCxn id="227" idx="2"/>
          </p:cNvCxnSpPr>
          <p:nvPr/>
        </p:nvCxnSpPr>
        <p:spPr>
          <a:xfrm rot="5400000">
            <a:off x="9616763" y="1574696"/>
            <a:ext cx="383243" cy="1821582"/>
          </a:xfrm>
          <a:prstGeom prst="bentConnector2">
            <a:avLst/>
          </a:prstGeom>
          <a:ln w="25400">
            <a:solidFill>
              <a:srgbClr val="7F6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5A5A1276-2925-0564-30C4-DA555EF9B7C2}"/>
              </a:ext>
            </a:extLst>
          </p:cNvPr>
          <p:cNvCxnSpPr>
            <a:cxnSpLocks/>
            <a:endCxn id="205" idx="2"/>
          </p:cNvCxnSpPr>
          <p:nvPr/>
        </p:nvCxnSpPr>
        <p:spPr>
          <a:xfrm flipV="1">
            <a:off x="4712422" y="2293866"/>
            <a:ext cx="0" cy="667664"/>
          </a:xfrm>
          <a:prstGeom prst="straightConnector1">
            <a:avLst/>
          </a:prstGeom>
          <a:ln w="25400">
            <a:solidFill>
              <a:srgbClr val="71AD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Oval 229">
            <a:extLst>
              <a:ext uri="{FF2B5EF4-FFF2-40B4-BE49-F238E27FC236}">
                <a16:creationId xmlns:a16="http://schemas.microsoft.com/office/drawing/2014/main" id="{6AD84DCD-70E0-799F-597B-6A724692141D}"/>
              </a:ext>
            </a:extLst>
          </p:cNvPr>
          <p:cNvSpPr>
            <a:spLocks/>
          </p:cNvSpPr>
          <p:nvPr/>
        </p:nvSpPr>
        <p:spPr>
          <a:xfrm>
            <a:off x="6112593" y="1836666"/>
            <a:ext cx="469901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/>
              <a:t>HX</a:t>
            </a:r>
            <a:r>
              <a:rPr lang="en-GB" sz="1100" baseline="0"/>
              <a:t>F2</a:t>
            </a:r>
            <a:endParaRPr lang="en-GB" sz="1100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BA8ADAED-187C-D2AE-F1A9-2CC40E9D2F6F}"/>
              </a:ext>
            </a:extLst>
          </p:cNvPr>
          <p:cNvSpPr>
            <a:spLocks/>
          </p:cNvSpPr>
          <p:nvPr/>
        </p:nvSpPr>
        <p:spPr>
          <a:xfrm>
            <a:off x="1394756" y="1836666"/>
            <a:ext cx="469899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100" dirty="0"/>
              <a:t>HXF2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594A5B-E7A2-B4F8-AB99-98EC89DBACC9}"/>
              </a:ext>
            </a:extLst>
          </p:cNvPr>
          <p:cNvSpPr/>
          <p:nvPr/>
        </p:nvSpPr>
        <p:spPr>
          <a:xfrm>
            <a:off x="3360248" y="1727773"/>
            <a:ext cx="2634099" cy="676642"/>
          </a:xfrm>
          <a:prstGeom prst="rect">
            <a:avLst/>
          </a:prstGeom>
          <a:noFill/>
          <a:ln w="25400">
            <a:solidFill>
              <a:srgbClr val="71A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100"/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8D982E6F-843A-329E-E818-F6F44F21E334}"/>
              </a:ext>
            </a:extLst>
          </p:cNvPr>
          <p:cNvCxnSpPr>
            <a:stCxn id="231" idx="6"/>
            <a:endCxn id="204" idx="1"/>
          </p:cNvCxnSpPr>
          <p:nvPr/>
        </p:nvCxnSpPr>
        <p:spPr>
          <a:xfrm>
            <a:off x="1864655" y="2065266"/>
            <a:ext cx="238702" cy="0"/>
          </a:xfrm>
          <a:prstGeom prst="straightConnector1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984B10F-8DFB-184C-D6E7-659208096C9C}"/>
              </a:ext>
            </a:extLst>
          </p:cNvPr>
          <p:cNvCxnSpPr>
            <a:stCxn id="230" idx="6"/>
            <a:endCxn id="206" idx="1"/>
          </p:cNvCxnSpPr>
          <p:nvPr/>
        </p:nvCxnSpPr>
        <p:spPr>
          <a:xfrm>
            <a:off x="6582494" y="2065266"/>
            <a:ext cx="242883" cy="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TextBox 234">
            <a:extLst>
              <a:ext uri="{FF2B5EF4-FFF2-40B4-BE49-F238E27FC236}">
                <a16:creationId xmlns:a16="http://schemas.microsoft.com/office/drawing/2014/main" id="{F983ECA3-1A45-6D42-334C-59AF1A8BDDCD}"/>
              </a:ext>
            </a:extLst>
          </p:cNvPr>
          <p:cNvSpPr txBox="1"/>
          <p:nvPr/>
        </p:nvSpPr>
        <p:spPr>
          <a:xfrm>
            <a:off x="525140" y="1860731"/>
            <a:ext cx="310751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NG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8448A3C-E1BC-B835-1EE2-04E609A490FE}"/>
              </a:ext>
            </a:extLst>
          </p:cNvPr>
          <p:cNvSpPr txBox="1"/>
          <p:nvPr/>
        </p:nvSpPr>
        <p:spPr>
          <a:xfrm>
            <a:off x="11264285" y="1860731"/>
            <a:ext cx="310751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H2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A0EC31A7-475B-A30B-92CA-BC98C8FEA23E}"/>
              </a:ext>
            </a:extLst>
          </p:cNvPr>
          <p:cNvSpPr txBox="1"/>
          <p:nvPr/>
        </p:nvSpPr>
        <p:spPr>
          <a:xfrm>
            <a:off x="4781910" y="2777688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Electricity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F2DF6C9-D115-CF29-B441-AC89B902EACC}"/>
              </a:ext>
            </a:extLst>
          </p:cNvPr>
          <p:cNvSpPr txBox="1"/>
          <p:nvPr/>
        </p:nvSpPr>
        <p:spPr>
          <a:xfrm>
            <a:off x="9546141" y="1529034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CO2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BA28582-DE1A-EACF-B9CC-34618C35AC12}"/>
              </a:ext>
            </a:extLst>
          </p:cNvPr>
          <p:cNvSpPr txBox="1"/>
          <p:nvPr/>
        </p:nvSpPr>
        <p:spPr>
          <a:xfrm>
            <a:off x="7732312" y="1529034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Waster water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2FC1493F-C383-86C5-7F70-552C475CFB58}"/>
              </a:ext>
            </a:extLst>
          </p:cNvPr>
          <p:cNvSpPr txBox="1"/>
          <p:nvPr/>
        </p:nvSpPr>
        <p:spPr>
          <a:xfrm>
            <a:off x="2594014" y="1529034"/>
            <a:ext cx="907877" cy="184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/>
              <a:t>HP Steam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25C223B-8BAF-49E3-751F-8749826A71AC}"/>
              </a:ext>
            </a:extLst>
          </p:cNvPr>
          <p:cNvSpPr txBox="1"/>
          <p:nvPr/>
        </p:nvSpPr>
        <p:spPr>
          <a:xfrm>
            <a:off x="3360248" y="1529034"/>
            <a:ext cx="1178221" cy="184474"/>
          </a:xfrm>
          <a:prstGeom prst="rect">
            <a:avLst/>
          </a:prstGeom>
          <a:solidFill>
            <a:srgbClr val="71AD47"/>
          </a:solidFill>
          <a:ln w="25400">
            <a:solidFill>
              <a:srgbClr val="71AD47"/>
            </a:solidFill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100" b="1" dirty="0">
                <a:solidFill>
                  <a:schemeClr val="bg1"/>
                </a:solidFill>
              </a:rPr>
              <a:t> One reactor unit </a:t>
            </a:r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C9834662-47C5-3911-FA16-2FE68E4FBF81}"/>
              </a:ext>
            </a:extLst>
          </p:cNvPr>
          <p:cNvSpPr txBox="1">
            <a:spLocks/>
          </p:cNvSpPr>
          <p:nvPr/>
        </p:nvSpPr>
        <p:spPr>
          <a:xfrm>
            <a:off x="624423" y="1014407"/>
            <a:ext cx="7107889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900" dirty="0"/>
              <a:t>High-level </a:t>
            </a:r>
            <a:r>
              <a:rPr lang="en-US" sz="2000" dirty="0"/>
              <a:t>economic evaluation</a:t>
            </a:r>
            <a:endParaRPr lang="en-US" sz="1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FC006-B092-C379-240E-AF0775CD13A7}"/>
              </a:ext>
            </a:extLst>
          </p:cNvPr>
          <p:cNvSpPr txBox="1"/>
          <p:nvPr/>
        </p:nvSpPr>
        <p:spPr>
          <a:xfrm>
            <a:off x="5022574" y="4816994"/>
            <a:ext cx="2146852" cy="26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600" dirty="0"/>
              <a:t>→ Excel</a:t>
            </a:r>
          </a:p>
        </p:txBody>
      </p:sp>
    </p:spTree>
    <p:extLst>
      <p:ext uri="{BB962C8B-B14F-4D97-AF65-F5344CB8AC3E}">
        <p14:creationId xmlns:p14="http://schemas.microsoft.com/office/powerpoint/2010/main" val="149018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372E0-C881-B467-1757-B709224C5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3E0FD7-9DCA-6788-C300-C016003A05A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6537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7380AC8-06CB-3509-332E-2E805FC7D564}"/>
              </a:ext>
            </a:extLst>
          </p:cNvPr>
          <p:cNvSpPr txBox="1"/>
          <p:nvPr/>
        </p:nvSpPr>
        <p:spPr>
          <a:xfrm>
            <a:off x="520699" y="1250925"/>
            <a:ext cx="11047414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SMR: </a:t>
            </a:r>
            <a:br>
              <a:rPr lang="en-GB" sz="1800" b="1" dirty="0"/>
            </a:br>
            <a:r>
              <a:rPr lang="en-GB" sz="1800" b="1" dirty="0"/>
              <a:t>CH</a:t>
            </a:r>
            <a:r>
              <a:rPr lang="en-GB" sz="1800" b="1" baseline="-25000" dirty="0"/>
              <a:t>4</a:t>
            </a:r>
            <a:r>
              <a:rPr lang="en-GB" sz="1800" b="1" dirty="0"/>
              <a:t>​ + H</a:t>
            </a:r>
            <a:r>
              <a:rPr lang="en-GB" sz="1800" b="1" baseline="-25000" dirty="0"/>
              <a:t>2</a:t>
            </a:r>
            <a:r>
              <a:rPr lang="en-GB" sz="1800" b="1" dirty="0"/>
              <a:t>​O ⇌ CO + 3 H</a:t>
            </a:r>
            <a:r>
              <a:rPr lang="en-GB" sz="1800" b="1" baseline="-25000" dirty="0"/>
              <a:t>2</a:t>
            </a:r>
            <a:r>
              <a:rPr lang="en-GB" sz="1800" b="1" dirty="0"/>
              <a:t>​ </a:t>
            </a:r>
            <a:endParaRPr lang="en-GB" sz="1400" dirty="0">
              <a:sym typeface="Wingdings" pitchFamily="2" charset="2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GB" sz="1100" dirty="0">
              <a:sym typeface="Wingdings" pitchFamily="2" charset="2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ym typeface="Wingdings" pitchFamily="2" charset="2"/>
              </a:rPr>
              <a:t>Increase in </a:t>
            </a:r>
            <a:br>
              <a:rPr lang="en-GB" sz="1600" dirty="0">
                <a:sym typeface="Wingdings" pitchFamily="2" charset="2"/>
              </a:rPr>
            </a:br>
            <a:r>
              <a:rPr lang="en-GB" sz="1600" dirty="0">
                <a:sym typeface="Wingdings" pitchFamily="2" charset="2"/>
              </a:rPr>
              <a:t>mole number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>
                <a:sym typeface="Wingdings" pitchFamily="2" charset="2"/>
              </a:rPr>
              <a:t>Compression </a:t>
            </a:r>
            <a:br>
              <a:rPr lang="en-GB" sz="1600" dirty="0">
                <a:sym typeface="Wingdings" pitchFamily="2" charset="2"/>
              </a:rPr>
            </a:br>
            <a:r>
              <a:rPr lang="en-GB" sz="1600" dirty="0">
                <a:sym typeface="Wingdings" pitchFamily="2" charset="2"/>
              </a:rPr>
              <a:t>before reforming </a:t>
            </a:r>
            <a:br>
              <a:rPr lang="en-GB" sz="1600" dirty="0">
                <a:sym typeface="Wingdings" pitchFamily="2" charset="2"/>
              </a:rPr>
            </a:br>
            <a:r>
              <a:rPr lang="en-GB" sz="1600" dirty="0">
                <a:sym typeface="Wingdings" pitchFamily="2" charset="2"/>
              </a:rPr>
              <a:t>is at </a:t>
            </a:r>
            <a:r>
              <a:rPr lang="en-GB" sz="1600" dirty="0" err="1">
                <a:sym typeface="Wingdings" pitchFamily="2" charset="2"/>
              </a:rPr>
              <a:t>anincentive</a:t>
            </a:r>
            <a:endParaRPr lang="en-GB" sz="16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CEB79-ADE5-B358-1818-A1871D9D2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B3E71-178A-7895-853A-A046F998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91165D-878F-6C56-8EA8-97F51D29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DE" dirty="0"/>
              <a:t>Ammonia offers better potential since the plant configuration is streamlined</a:t>
            </a:r>
            <a:br>
              <a:rPr lang="en-DE" dirty="0"/>
            </a:br>
            <a:r>
              <a:rPr lang="en-DE" dirty="0"/>
              <a:t>and operation at higher pressure with yet high yields is possible due to 1100 °C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77825F-3AD1-6B23-708E-9E0EB139B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1" y="1250925"/>
            <a:ext cx="5791198" cy="361781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748699-D1F4-10F7-6A97-BA1DB4E6DA16}"/>
              </a:ext>
            </a:extLst>
          </p:cNvPr>
          <p:cNvCxnSpPr>
            <a:cxnSpLocks/>
          </p:cNvCxnSpPr>
          <p:nvPr/>
        </p:nvCxnSpPr>
        <p:spPr>
          <a:xfrm flipV="1">
            <a:off x="7262553" y="2220956"/>
            <a:ext cx="0" cy="225604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9AF4AE-8E32-6FD9-08D9-7DC43EE849C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952399" y="3885758"/>
            <a:ext cx="4632537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C03D76-7B14-3CF1-09C1-287C4B3AB921}"/>
              </a:ext>
            </a:extLst>
          </p:cNvPr>
          <p:cNvCxnSpPr>
            <a:cxnSpLocks/>
          </p:cNvCxnSpPr>
          <p:nvPr/>
        </p:nvCxnSpPr>
        <p:spPr>
          <a:xfrm flipV="1">
            <a:off x="7584936" y="3885757"/>
            <a:ext cx="0" cy="59124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424AB1-4392-6913-94E5-4A37FABF9F30}"/>
              </a:ext>
            </a:extLst>
          </p:cNvPr>
          <p:cNvCxnSpPr>
            <a:cxnSpLocks/>
          </p:cNvCxnSpPr>
          <p:nvPr/>
        </p:nvCxnSpPr>
        <p:spPr>
          <a:xfrm flipH="1">
            <a:off x="3663538" y="2220956"/>
            <a:ext cx="3599015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1C9A240-EE5D-0E40-5259-0D88D4755E39}"/>
              </a:ext>
            </a:extLst>
          </p:cNvPr>
          <p:cNvSpPr txBox="1"/>
          <p:nvPr/>
        </p:nvSpPr>
        <p:spPr>
          <a:xfrm>
            <a:off x="1414980" y="3631842"/>
            <a:ext cx="1537419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625"/>
              </a:spcBef>
              <a:buClr>
                <a:schemeClr val="accent1"/>
              </a:buClr>
            </a:pPr>
            <a:r>
              <a:rPr lang="en-GB" sz="1100" b="1" dirty="0"/>
              <a:t>Current pressure limitation due to tube material constraints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ED5C00-CA52-4AD1-2C67-1F31439CB295}"/>
              </a:ext>
            </a:extLst>
          </p:cNvPr>
          <p:cNvSpPr/>
          <p:nvPr/>
        </p:nvSpPr>
        <p:spPr>
          <a:xfrm>
            <a:off x="7584936" y="3645246"/>
            <a:ext cx="288234" cy="2882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b="1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1DBB6A0-73AB-04AC-C99C-BEB7932041D4}"/>
              </a:ext>
            </a:extLst>
          </p:cNvPr>
          <p:cNvSpPr/>
          <p:nvPr/>
        </p:nvSpPr>
        <p:spPr>
          <a:xfrm>
            <a:off x="7262553" y="1932721"/>
            <a:ext cx="288234" cy="2882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b="1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D13E8F-1184-D65D-3F70-0DDA1F92E93D}"/>
              </a:ext>
            </a:extLst>
          </p:cNvPr>
          <p:cNvSpPr txBox="1"/>
          <p:nvPr/>
        </p:nvSpPr>
        <p:spPr>
          <a:xfrm>
            <a:off x="9239602" y="1340793"/>
            <a:ext cx="2328512" cy="26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1600" dirty="0"/>
              <a:t>C</a:t>
            </a:r>
            <a:r>
              <a:rPr lang="en-DE" sz="1600" dirty="0"/>
              <a:t>onventianol ATR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115475-F288-2A68-FCB5-B4358E98343A}"/>
              </a:ext>
            </a:extLst>
          </p:cNvPr>
          <p:cNvSpPr/>
          <p:nvPr/>
        </p:nvSpPr>
        <p:spPr>
          <a:xfrm>
            <a:off x="9072336" y="1335006"/>
            <a:ext cx="288234" cy="2882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b="1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9295F6-1A1E-5117-9501-844DAFEDDF02}"/>
              </a:ext>
            </a:extLst>
          </p:cNvPr>
          <p:cNvSpPr txBox="1"/>
          <p:nvPr/>
        </p:nvSpPr>
        <p:spPr>
          <a:xfrm>
            <a:off x="9239602" y="1789067"/>
            <a:ext cx="2328512" cy="859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sz="1600" dirty="0"/>
              <a:t>Still </a:t>
            </a:r>
            <a:r>
              <a:rPr lang="de-DE" sz="1600" dirty="0" err="1"/>
              <a:t>reasonable</a:t>
            </a:r>
            <a:r>
              <a:rPr lang="de-DE" sz="1600" dirty="0"/>
              <a:t> </a:t>
            </a:r>
            <a:r>
              <a:rPr lang="de-DE" sz="1600" dirty="0" err="1"/>
              <a:t>yields</a:t>
            </a:r>
            <a:r>
              <a:rPr lang="de-DE" sz="1600" dirty="0"/>
              <a:t> in </a:t>
            </a:r>
            <a:r>
              <a:rPr lang="de-DE" sz="1600" dirty="0" err="1"/>
              <a:t>eATR</a:t>
            </a:r>
            <a:r>
              <a:rPr lang="de-DE" sz="1600" dirty="0"/>
              <a:t>, but </a:t>
            </a:r>
            <a:r>
              <a:rPr lang="de-DE" sz="1600" b="1" dirty="0"/>
              <a:t>recycle </a:t>
            </a:r>
            <a:r>
              <a:rPr lang="de-DE" sz="1600" b="1" dirty="0" err="1"/>
              <a:t>necessary</a:t>
            </a:r>
            <a:endParaRPr lang="en-DE" sz="1600" b="1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664EEA4-CD2A-E034-BF7B-D892AE1F768B}"/>
              </a:ext>
            </a:extLst>
          </p:cNvPr>
          <p:cNvSpPr/>
          <p:nvPr/>
        </p:nvSpPr>
        <p:spPr>
          <a:xfrm>
            <a:off x="9072336" y="1784094"/>
            <a:ext cx="288234" cy="2882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1600" b="1" dirty="0"/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6C4B17-43E4-D074-5B50-0AC53053B26D}"/>
              </a:ext>
            </a:extLst>
          </p:cNvPr>
          <p:cNvSpPr txBox="1"/>
          <p:nvPr/>
        </p:nvSpPr>
        <p:spPr>
          <a:xfrm>
            <a:off x="2194562" y="5653165"/>
            <a:ext cx="7802868" cy="60016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endParaRPr lang="de-DE" sz="1100" dirty="0"/>
          </a:p>
          <a:p>
            <a:pPr algn="ctr"/>
            <a:r>
              <a:rPr lang="de-DE" sz="1100" dirty="0"/>
              <a:t>Ammonia </a:t>
            </a:r>
            <a:r>
              <a:rPr lang="de-DE" sz="1100" dirty="0" err="1"/>
              <a:t>production</a:t>
            </a:r>
            <a:r>
              <a:rPr lang="de-DE" sz="1100" dirty="0"/>
              <a:t> via </a:t>
            </a:r>
            <a:r>
              <a:rPr lang="de-DE" sz="1100" b="1" dirty="0" err="1"/>
              <a:t>eATR</a:t>
            </a:r>
            <a:r>
              <a:rPr lang="de-DE" sz="1100" dirty="0"/>
              <a:t> </a:t>
            </a:r>
            <a:r>
              <a:rPr lang="de-DE" sz="1100" dirty="0" err="1"/>
              <a:t>is</a:t>
            </a:r>
            <a:r>
              <a:rPr lang="de-DE" sz="1100" dirty="0"/>
              <a:t> </a:t>
            </a:r>
            <a:r>
              <a:rPr lang="de-DE" sz="1100" dirty="0" err="1"/>
              <a:t>assumed</a:t>
            </a:r>
            <a:r>
              <a:rPr lang="de-DE" sz="1100" dirty="0"/>
              <a:t> </a:t>
            </a:r>
            <a:r>
              <a:rPr lang="de-DE" sz="1100" dirty="0" err="1"/>
              <a:t>to</a:t>
            </a:r>
            <a:r>
              <a:rPr lang="de-DE" sz="1100" dirty="0"/>
              <a:t> </a:t>
            </a:r>
            <a:r>
              <a:rPr lang="de-DE" sz="1100" dirty="0" err="1"/>
              <a:t>be</a:t>
            </a:r>
            <a:r>
              <a:rPr lang="de-DE" sz="1100" dirty="0"/>
              <a:t> </a:t>
            </a:r>
            <a:r>
              <a:rPr lang="de-DE" sz="1100" dirty="0" err="1"/>
              <a:t>best</a:t>
            </a:r>
            <a:r>
              <a:rPr lang="de-DE" sz="1100" dirty="0"/>
              <a:t> </a:t>
            </a:r>
            <a:r>
              <a:rPr lang="de-DE" sz="1100" dirty="0" err="1"/>
              <a:t>for</a:t>
            </a:r>
            <a:r>
              <a:rPr lang="de-DE" sz="1100" dirty="0"/>
              <a:t> </a:t>
            </a:r>
            <a:r>
              <a:rPr lang="de-DE" sz="1100" dirty="0" err="1"/>
              <a:t>detailed</a:t>
            </a:r>
            <a:r>
              <a:rPr lang="de-DE" sz="1100" dirty="0"/>
              <a:t> TEA</a:t>
            </a:r>
          </a:p>
          <a:p>
            <a:pPr algn="ctr"/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08636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C514C036-3662-99F9-5407-751C4BE536E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0788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06497-2B40-E247-959D-FF70133D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25124-E7FA-E12E-05D1-8CAA1A00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37BF07-CB30-0F0D-EC35-16E99F7D2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22" y="327666"/>
            <a:ext cx="10943167" cy="333948"/>
          </a:xfrm>
        </p:spPr>
        <p:txBody>
          <a:bodyPr vert="horz" rIns="0"/>
          <a:lstStyle/>
          <a:p>
            <a:r>
              <a:rPr lang="en-GB" dirty="0"/>
              <a:t>Building reference PFD from Ullmann’s example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31BD2-3B15-A5BC-69F5-C43A81846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22" y="1612821"/>
            <a:ext cx="6999729" cy="45245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73061A-B211-A0CC-8689-C108AF4B1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2037" y="1613916"/>
            <a:ext cx="4145552" cy="1535865"/>
          </a:xfrm>
          <a:prstGeom prst="rect">
            <a:avLst/>
          </a:prstGeom>
        </p:spPr>
      </p:pic>
      <p:sp>
        <p:nvSpPr>
          <p:cNvPr id="11" name="Titel 4">
            <a:extLst>
              <a:ext uri="{FF2B5EF4-FFF2-40B4-BE49-F238E27FC236}">
                <a16:creationId xmlns:a16="http://schemas.microsoft.com/office/drawing/2014/main" id="{8D2A142F-9EB6-3B6C-86C0-74EDA89F09DC}"/>
              </a:ext>
            </a:extLst>
          </p:cNvPr>
          <p:cNvSpPr txBox="1">
            <a:spLocks/>
          </p:cNvSpPr>
          <p:nvPr/>
        </p:nvSpPr>
        <p:spPr>
          <a:xfrm>
            <a:off x="624422" y="1278874"/>
            <a:ext cx="11567578" cy="3339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4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Reference case: Ullmann’s modern integrated single-train ammonia plant (2011)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562AA-6A30-B521-D7BA-101AC78F0967}"/>
              </a:ext>
            </a:extLst>
          </p:cNvPr>
          <p:cNvSpPr txBox="1"/>
          <p:nvPr/>
        </p:nvSpPr>
        <p:spPr>
          <a:xfrm>
            <a:off x="7704083" y="3194450"/>
            <a:ext cx="3864030" cy="3170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600" b="1" dirty="0"/>
              <a:t>Main similarities: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CO2 removal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Methantion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Ammonia synthesis</a:t>
            </a:r>
          </a:p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600" b="1" dirty="0"/>
              <a:t>Main differences: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Higher pressure (compression of fever moles upstream than downstream)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Recycle (compression of recycle stream)</a:t>
            </a:r>
          </a:p>
          <a:p>
            <a:pPr marL="179388" indent="-179388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DE" sz="1600" dirty="0"/>
              <a:t>1 instead of 2 reactors 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28C526B4-C236-1867-5323-5F52EDA34DD0}"/>
              </a:ext>
            </a:extLst>
          </p:cNvPr>
          <p:cNvSpPr/>
          <p:nvPr/>
        </p:nvSpPr>
        <p:spPr>
          <a:xfrm>
            <a:off x="10020393" y="3601130"/>
            <a:ext cx="137459" cy="94861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9D3B4-37BC-7972-C586-33A7672869F9}"/>
              </a:ext>
            </a:extLst>
          </p:cNvPr>
          <p:cNvSpPr txBox="1"/>
          <p:nvPr/>
        </p:nvSpPr>
        <p:spPr>
          <a:xfrm>
            <a:off x="10322425" y="3789363"/>
            <a:ext cx="891747" cy="5637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</a:pPr>
            <a:r>
              <a:rPr lang="en-DE" sz="1600" b="1" dirty="0"/>
              <a:t>Neglect in PFD?</a:t>
            </a:r>
          </a:p>
        </p:txBody>
      </p:sp>
    </p:spTree>
    <p:extLst>
      <p:ext uri="{BB962C8B-B14F-4D97-AF65-F5344CB8AC3E}">
        <p14:creationId xmlns:p14="http://schemas.microsoft.com/office/powerpoint/2010/main" val="237589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7DE320C-0A7F-5D4E-9401-A4BCC329E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FF321F9-BB56-5847-BF7E-564953EF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2F248D-83EE-AD48-B9D1-01FC3AD8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89DBEB9-E0DC-1E4A-8BCC-14D9EF7949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2C7FEC7-B7DF-6C4C-8C80-69413565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88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A2BEF7A-5AFD-4743-9AE7-B9E7BFB9D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952A2D5-3285-0548-A701-D1AD70198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A84201-3389-434C-A79C-262921F1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E693437-7C87-6F46-BB54-1D1F42E5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12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C3C0EEF-DD22-3B4A-BA79-4C4129F7DA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DF9119-15DA-BC44-8FE6-FBC1FD62AF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E78259-462C-EC46-A639-92DD0BE8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20.01.2016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387B376-3739-E54A-B84E-74A2557A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8144D6D-E636-5948-A5C5-1FFBC6E6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CEF19A9-2B53-F84C-9A69-88BC62D18E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55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EFCCF34-D61B-7342-8254-F2D814FC65D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25FAFA-DA4C-6943-B2A2-03FE5A83A4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1F045F-666B-4B4E-B7E6-3BFB792627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E2229DE-7856-E545-AF63-A8A76F98E4C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FA8DA88-D1EA-4A49-A2A6-2413DAC611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FCA5E1E-99C1-F545-BCF4-D562178153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63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696088FB-EB76-4F4A-83F4-43E1893F5F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CA559A-4AAA-AD4F-9D58-A4AF059260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460EBD-9503-0E43-B677-D46EC512864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89F485B-8A20-F346-A827-F90B9172F5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77B53EC-FADF-5E43-84EA-6C0695644C8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E8E5C09-5F8A-3B4F-A1DA-46DEC7833CF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47974B-1C86-7642-BA7F-C154AD50E48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F44DE34-2BA0-294D-9680-D6B5489D91B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97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CVT_Titel_Abschluss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2.xml><?xml version="1.0" encoding="utf-8"?>
<a:theme xmlns:a="http://schemas.openxmlformats.org/drawingml/2006/main" name="ICVT_Inhaltsfolien_mitStreifen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3.xml><?xml version="1.0" encoding="utf-8"?>
<a:theme xmlns:a="http://schemas.openxmlformats.org/drawingml/2006/main" name="ICVT_Inhaltsfolien_ohneStreifen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625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_Stuttgart_Vorlage D_4zu3_2016 FINAL.pptx" id="{4841BD3C-E1E3-469F-ADD0-9E6EB31E75F5}" vid="{33357EC2-1038-4565-85BB-7F696209DF7D}"/>
    </a:ext>
  </a:extLst>
</a:theme>
</file>

<file path=ppt/theme/theme4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5E1334409C914FB945F26023E4E0DA" ma:contentTypeVersion="10" ma:contentTypeDescription="Create a new document." ma:contentTypeScope="" ma:versionID="90d3274c76475585f001eae2ff898a98">
  <xsd:schema xmlns:xsd="http://www.w3.org/2001/XMLSchema" xmlns:xs="http://www.w3.org/2001/XMLSchema" xmlns:p="http://schemas.microsoft.com/office/2006/metadata/properties" xmlns:ns2="55c3af10-9308-486a-acb2-466ae9e85ae8" xmlns:ns3="fc86b8ae-c0e6-4678-aaf5-c8dd4f853bb0" targetNamespace="http://schemas.microsoft.com/office/2006/metadata/properties" ma:root="true" ma:fieldsID="7de288c99b331d991e09e5b004f5ccc3" ns2:_="" ns3:_="">
    <xsd:import namespace="55c3af10-9308-486a-acb2-466ae9e85ae8"/>
    <xsd:import namespace="fc86b8ae-c0e6-4678-aaf5-c8dd4f853b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c3af10-9308-486a-acb2-466ae9e85a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b3f716-b607-40fd-8db3-d033642824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6b8ae-c0e6-4678-aaf5-c8dd4f853b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614e4a-7261-4ad6-a78f-7e4f890ef50c}" ma:internalName="TaxCatchAll" ma:showField="CatchAllData" ma:web="fc86b8ae-c0e6-4678-aaf5-c8dd4f853b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86b8ae-c0e6-4678-aaf5-c8dd4f853bb0" xsi:nil="true"/>
    <lcf76f155ced4ddcb4097134ff3c332f xmlns="55c3af10-9308-486a-acb2-466ae9e85ae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DE11F2-6597-4E33-B291-3D6D66A373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c3af10-9308-486a-acb2-466ae9e85ae8"/>
    <ds:schemaRef ds:uri="fc86b8ae-c0e6-4678-aaf5-c8dd4f853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00824D-7BA8-4AE9-94E9-C37D0423CCD8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05e06004-d50a-4efc-a364-320721992db5"/>
    <ds:schemaRef ds:uri="31b01711-fbca-4b7b-8b73-3dea1adb117b"/>
    <ds:schemaRef ds:uri="http://schemas.microsoft.com/office/2006/metadata/properties"/>
    <ds:schemaRef ds:uri="fc86b8ae-c0e6-4678-aaf5-c8dd4f853bb0"/>
    <ds:schemaRef ds:uri="55c3af10-9308-486a-acb2-466ae9e85ae8"/>
  </ds:schemaRefs>
</ds:datastoreItem>
</file>

<file path=customXml/itemProps3.xml><?xml version="1.0" encoding="utf-8"?>
<ds:datastoreItem xmlns:ds="http://schemas.openxmlformats.org/officeDocument/2006/customXml" ds:itemID="{93364AD7-170C-415F-86E1-34BA2EC694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1048</Words>
  <Application>Microsoft Macintosh PowerPoint</Application>
  <PresentationFormat>Widescreen</PresentationFormat>
  <Paragraphs>295</Paragraphs>
  <Slides>15</Slides>
  <Notes>7</Notes>
  <HiddenSlides>1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Wingdings</vt:lpstr>
      <vt:lpstr>ICVT_Titel_Abschluss</vt:lpstr>
      <vt:lpstr>ICVT_Inhaltsfolien_mitStreifen</vt:lpstr>
      <vt:lpstr>ICVT_Inhaltsfolien_ohneStreifen</vt:lpstr>
      <vt:lpstr>think-cell Slide</vt:lpstr>
      <vt:lpstr>PowerPoint Presentation</vt:lpstr>
      <vt:lpstr>Electrically heated reaction zone and &gt;500°C heat integration in one reactor</vt:lpstr>
      <vt:lpstr>Potential for catalyst free gas phase reaction would allow smaller  reactor design and lower costs</vt:lpstr>
      <vt:lpstr>The SMR process is the current state-of-the-art process in varied designs for different sectors and should be used for comparison </vt:lpstr>
      <vt:lpstr>The SMR process is the current state-of-the-art process in varied designs for different sectors and should be used for comparison </vt:lpstr>
      <vt:lpstr>The hydrogen SMR process is used for the preliminary high-level  comparison with our new reactor system </vt:lpstr>
      <vt:lpstr>The eSMR process leads to an overall simplified flow scheme with reactor internal heat recovery, rather than complicated byproduct steam production </vt:lpstr>
      <vt:lpstr>High-level economic evaluation</vt:lpstr>
      <vt:lpstr>Ammonia offers better potential since the plant configuration is streamlined and operation at higher pressure with yet high yields is possible due to 1100 °C </vt:lpstr>
      <vt:lpstr>Building reference PFD from Ullmann’s example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2016-01-19T06:04:30Z</dcterms:created>
  <dcterms:modified xsi:type="dcterms:W3CDTF">2026-04-30T23:09:31Z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0x0101009B5E1334409C914FB945F26023E4E0DA</vt:lpwstr>
  </property>
  <property fmtid="{D5CDD505-2E9C-101B-9397-08002B2CF9AE}" pid="3" name="MediaServiceImageTags">
    <vt:lpwstr/>
  </property>
</Properties>
</file>